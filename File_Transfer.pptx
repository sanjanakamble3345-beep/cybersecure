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8" r:id="rId1"/>
  </p:sldMasterIdLst>
  <p:sldIdLst>
    <p:sldId id="256" r:id="rId2"/>
    <p:sldId id="258" r:id="rId3"/>
    <p:sldId id="259" r:id="rId4"/>
    <p:sldId id="260" r:id="rId5"/>
    <p:sldId id="261" r:id="rId6"/>
    <p:sldId id="265" r:id="rId7"/>
    <p:sldId id="263" r:id="rId8"/>
    <p:sldId id="264" r:id="rId9"/>
    <p:sldId id="267" r:id="rId10"/>
    <p:sldId id="268" r:id="rId11"/>
    <p:sldId id="269" r:id="rId12"/>
    <p:sldId id="270" r:id="rId13"/>
    <p:sldId id="271" r:id="rId14"/>
    <p:sldId id="272" r:id="rId15"/>
    <p:sldId id="273" r:id="rId16"/>
    <p:sldId id="274" r:id="rId17"/>
    <p:sldId id="276" r:id="rId18"/>
    <p:sldId id="277" r:id="rId19"/>
    <p:sldId id="278" r:id="rId20"/>
    <p:sldId id="279" r:id="rId21"/>
    <p:sldId id="280" r:id="rId22"/>
    <p:sldId id="281"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AEFFC0-B535-448C-9C0E-92CB69FDFDA6}" v="2" dt="2026-02-19T20:56:24.6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ana Kamble" userId="833ed7261b0a54d8" providerId="LiveId" clId="{D521044D-BFD6-45AD-A9E9-B8ADBE511A53}"/>
    <pc:docChg chg="custSel modSld">
      <pc:chgData name="Sanjana Kamble" userId="833ed7261b0a54d8" providerId="LiveId" clId="{D521044D-BFD6-45AD-A9E9-B8ADBE511A53}" dt="2026-02-19T20:56:24.677" v="18"/>
      <pc:docMkLst>
        <pc:docMk/>
      </pc:docMkLst>
      <pc:sldChg chg="addSp delSp modSp mod">
        <pc:chgData name="Sanjana Kamble" userId="833ed7261b0a54d8" providerId="LiveId" clId="{D521044D-BFD6-45AD-A9E9-B8ADBE511A53}" dt="2026-02-19T20:56:24.677" v="18"/>
        <pc:sldMkLst>
          <pc:docMk/>
          <pc:sldMk cId="0" sldId="258"/>
        </pc:sldMkLst>
        <pc:spChg chg="add del mod">
          <ac:chgData name="Sanjana Kamble" userId="833ed7261b0a54d8" providerId="LiveId" clId="{D521044D-BFD6-45AD-A9E9-B8ADBE511A53}" dt="2026-02-19T20:55:35.308" v="8"/>
          <ac:spMkLst>
            <pc:docMk/>
            <pc:sldMk cId="0" sldId="258"/>
            <ac:spMk id="5" creationId="{EFD164EE-8EFA-1C09-B957-51BF30CF367F}"/>
          </ac:spMkLst>
        </pc:spChg>
        <pc:spChg chg="add del mod">
          <ac:chgData name="Sanjana Kamble" userId="833ed7261b0a54d8" providerId="LiveId" clId="{D521044D-BFD6-45AD-A9E9-B8ADBE511A53}" dt="2026-02-19T20:56:24.677" v="18"/>
          <ac:spMkLst>
            <pc:docMk/>
            <pc:sldMk cId="0" sldId="258"/>
            <ac:spMk id="8" creationId="{0A91745C-6EA4-9DCF-8A78-E6434F6497FD}"/>
          </ac:spMkLst>
        </pc:spChg>
        <pc:graphicFrameChg chg="del mod modGraphic">
          <ac:chgData name="Sanjana Kamble" userId="833ed7261b0a54d8" providerId="LiveId" clId="{D521044D-BFD6-45AD-A9E9-B8ADBE511A53}" dt="2026-02-19T20:53:38.932" v="6" actId="478"/>
          <ac:graphicFrameMkLst>
            <pc:docMk/>
            <pc:sldMk cId="0" sldId="258"/>
            <ac:graphicFrameMk id="4" creationId="{00000000-0000-0000-0000-000000000000}"/>
          </ac:graphicFrameMkLst>
        </pc:graphicFrameChg>
        <pc:graphicFrameChg chg="add del mod modGraphic">
          <ac:chgData name="Sanjana Kamble" userId="833ed7261b0a54d8" providerId="LiveId" clId="{D521044D-BFD6-45AD-A9E9-B8ADBE511A53}" dt="2026-02-19T20:56:08.117" v="13" actId="478"/>
          <ac:graphicFrameMkLst>
            <pc:docMk/>
            <pc:sldMk cId="0" sldId="258"/>
            <ac:graphicFrameMk id="6" creationId="{44FA18D6-89E5-5822-504F-F3E5EC3618E8}"/>
          </ac:graphicFrameMkLst>
        </pc:graphicFrameChg>
        <pc:graphicFrameChg chg="add mod">
          <ac:chgData name="Sanjana Kamble" userId="833ed7261b0a54d8" providerId="LiveId" clId="{D521044D-BFD6-45AD-A9E9-B8ADBE511A53}" dt="2026-02-19T20:56:24.677" v="18"/>
          <ac:graphicFrameMkLst>
            <pc:docMk/>
            <pc:sldMk cId="0" sldId="258"/>
            <ac:graphicFrameMk id="9" creationId="{C9C870F8-0C86-7FDD-C6DD-A4C37024295F}"/>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2353284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4420981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2648005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97F8A8-09F3-433A-BEE1-785EF58744CC}"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7521802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97F8A8-09F3-433A-BEE1-785EF58744CC}" type="datetimeFigureOut">
              <a:rPr lang="en-IN" smtClean="0"/>
              <a:t>20-02-2026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3773816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335374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3578785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533196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97F8A8-09F3-433A-BEE1-785EF58744CC}"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2446573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97F8A8-09F3-433A-BEE1-785EF58744CC}" type="datetimeFigureOut">
              <a:rPr lang="en-IN" smtClean="0"/>
              <a:t>20-02-2026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3240831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23021381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644748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39433373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27720246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636871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1412572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97F8A8-09F3-433A-BEE1-785EF58744CC}" type="datetimeFigureOut">
              <a:rPr lang="en-IN" smtClean="0"/>
              <a:t>20-02-2026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7674C8-F9D5-42BC-9F34-09C6E373F7E2}" type="slidenum">
              <a:rPr lang="en-IN" smtClean="0"/>
              <a:t>‹#›</a:t>
            </a:fld>
            <a:endParaRPr lang="en-IN"/>
          </a:p>
        </p:txBody>
      </p:sp>
    </p:spTree>
    <p:extLst>
      <p:ext uri="{BB962C8B-B14F-4D97-AF65-F5344CB8AC3E}">
        <p14:creationId xmlns:p14="http://schemas.microsoft.com/office/powerpoint/2010/main" val="1946947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A97F8A8-09F3-433A-BEE1-785EF58744CC}" type="datetimeFigureOut">
              <a:rPr lang="en-IN" smtClean="0"/>
              <a:t>20-02-2026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07674C8-F9D5-42BC-9F34-09C6E373F7E2}" type="slidenum">
              <a:rPr lang="en-IN" smtClean="0"/>
              <a:t>‹#›</a:t>
            </a:fld>
            <a:endParaRPr lang="en-IN"/>
          </a:p>
        </p:txBody>
      </p:sp>
    </p:spTree>
    <p:extLst>
      <p:ext uri="{BB962C8B-B14F-4D97-AF65-F5344CB8AC3E}">
        <p14:creationId xmlns:p14="http://schemas.microsoft.com/office/powerpoint/2010/main" val="1770176155"/>
      </p:ext>
    </p:extLst>
  </p:cSld>
  <p:clrMap bg1="dk1" tx1="lt1" bg2="dk2" tx2="lt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10800000" flipV="1">
            <a:off x="1524000" y="457200"/>
            <a:ext cx="9144000" cy="841375"/>
          </a:xfrm>
        </p:spPr>
        <p:txBody>
          <a:bodyPr>
            <a:normAutofit fontScale="90000"/>
          </a:bodyPr>
          <a:lstStyle/>
          <a:p>
            <a:r>
              <a:rPr lang="en-US" altLang="en-IN" b="1" dirty="0"/>
              <a:t>TITLE</a:t>
            </a:r>
          </a:p>
        </p:txBody>
      </p:sp>
      <p:sp>
        <p:nvSpPr>
          <p:cNvPr id="3" name="Subtitle 2"/>
          <p:cNvSpPr>
            <a:spLocks noGrp="1"/>
          </p:cNvSpPr>
          <p:nvPr>
            <p:ph type="subTitle" idx="1"/>
          </p:nvPr>
        </p:nvSpPr>
        <p:spPr>
          <a:xfrm>
            <a:off x="1524000" y="1363133"/>
            <a:ext cx="9144000" cy="5283200"/>
          </a:xfrm>
        </p:spPr>
        <p:txBody>
          <a:bodyPr/>
          <a:lstStyle/>
          <a:p>
            <a:r>
              <a:rPr lang="en-US" dirty="0"/>
              <a:t> </a:t>
            </a:r>
          </a:p>
          <a:p>
            <a:r>
              <a:rPr lang="en-US" b="1" dirty="0"/>
              <a:t>NAME:SANJANA SUBHASH KAMBLE</a:t>
            </a:r>
          </a:p>
          <a:p>
            <a:r>
              <a:rPr lang="en-US" b="1" dirty="0"/>
              <a:t>COLLEGE NAME:ABASAHEB GARWARE COLLEGE</a:t>
            </a:r>
          </a:p>
          <a:p>
            <a:r>
              <a:rPr lang="en-US" b="1" dirty="0" err="1"/>
              <a:t>PROJECT:</a:t>
            </a:r>
            <a:r>
              <a:rPr lang="en-US" altLang="en-US" b="1" dirty="0"/>
              <a:t>Secure File Transfer Monitoring System</a:t>
            </a:r>
          </a:p>
          <a:p>
            <a:r>
              <a:rPr lang="en-US" b="1" dirty="0"/>
              <a:t>SUBJECT-CYBERSECURITY</a:t>
            </a:r>
          </a:p>
          <a:p>
            <a:r>
              <a:rPr lang="en-US" b="1" dirty="0"/>
              <a:t>TYBSC-COMPUTER SCIENCE</a:t>
            </a:r>
          </a:p>
          <a:p>
            <a:r>
              <a:rPr lang="en-US" b="1" dirty="0"/>
              <a:t>ROLLNO:13389</a:t>
            </a:r>
            <a:endParaRPr lang="en-IN" b="1" dirty="0"/>
          </a:p>
          <a:p>
            <a:r>
              <a:rPr lang="en-IN" b="1" dirty="0"/>
              <a:t>ACADEMIC YEAR:2025-2026</a:t>
            </a:r>
            <a:endParaRPr lang="en-US" b="1"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82132"/>
          </a:xfrm>
        </p:spPr>
        <p:txBody>
          <a:bodyPr/>
          <a:lstStyle/>
          <a:p>
            <a:r>
              <a:rPr lang="en-US" dirty="0"/>
              <a:t>                                  INDEX</a:t>
            </a:r>
            <a:endParaRPr lang="en-IN" dirty="0"/>
          </a:p>
        </p:txBody>
      </p:sp>
      <p:graphicFrame>
        <p:nvGraphicFramePr>
          <p:cNvPr id="9" name="Content Placeholder 8">
            <a:extLst>
              <a:ext uri="{FF2B5EF4-FFF2-40B4-BE49-F238E27FC236}">
                <a16:creationId xmlns:a16="http://schemas.microsoft.com/office/drawing/2014/main" id="{C9C870F8-0C86-7FDD-C6DD-A4C37024295F}"/>
              </a:ext>
            </a:extLst>
          </p:cNvPr>
          <p:cNvGraphicFramePr>
            <a:graphicFrameLocks noGrp="1"/>
          </p:cNvGraphicFramePr>
          <p:nvPr>
            <p:ph idx="1"/>
          </p:nvPr>
        </p:nvGraphicFramePr>
        <p:xfrm>
          <a:off x="1595944" y="779461"/>
          <a:ext cx="8019038" cy="5900742"/>
        </p:xfrm>
        <a:graphic>
          <a:graphicData uri="http://schemas.openxmlformats.org/drawingml/2006/table">
            <a:tbl>
              <a:tblPr/>
              <a:tblGrid>
                <a:gridCol w="4009519">
                  <a:extLst>
                    <a:ext uri="{9D8B030D-6E8A-4147-A177-3AD203B41FA5}">
                      <a16:colId xmlns:a16="http://schemas.microsoft.com/office/drawing/2014/main" val="2070758672"/>
                    </a:ext>
                  </a:extLst>
                </a:gridCol>
                <a:gridCol w="4009519">
                  <a:extLst>
                    <a:ext uri="{9D8B030D-6E8A-4147-A177-3AD203B41FA5}">
                      <a16:colId xmlns:a16="http://schemas.microsoft.com/office/drawing/2014/main" val="2570518573"/>
                    </a:ext>
                  </a:extLst>
                </a:gridCol>
              </a:tblGrid>
              <a:tr h="327819">
                <a:tc>
                  <a:txBody>
                    <a:bodyPr/>
                    <a:lstStyle/>
                    <a:p>
                      <a:pPr>
                        <a:buNone/>
                      </a:pPr>
                      <a:r>
                        <a:rPr lang="en-IN" sz="1600"/>
                        <a:t>Sr. No.</a:t>
                      </a:r>
                    </a:p>
                  </a:txBody>
                  <a:tcPr marL="81955" marR="81955" marT="40977" marB="40977" anchor="ctr">
                    <a:lnL>
                      <a:noFill/>
                    </a:lnL>
                    <a:lnR>
                      <a:noFill/>
                    </a:lnR>
                    <a:lnT>
                      <a:noFill/>
                    </a:lnT>
                    <a:lnB>
                      <a:noFill/>
                    </a:lnB>
                    <a:noFill/>
                  </a:tcPr>
                </a:tc>
                <a:tc>
                  <a:txBody>
                    <a:bodyPr/>
                    <a:lstStyle/>
                    <a:p>
                      <a:pPr>
                        <a:buNone/>
                      </a:pPr>
                      <a:r>
                        <a:rPr lang="en-IN" sz="1600"/>
                        <a:t>Title</a:t>
                      </a:r>
                    </a:p>
                  </a:txBody>
                  <a:tcPr marL="81955" marR="81955" marT="40977" marB="40977" anchor="ctr">
                    <a:lnL>
                      <a:noFill/>
                    </a:lnL>
                    <a:lnR>
                      <a:noFill/>
                    </a:lnR>
                    <a:lnT>
                      <a:noFill/>
                    </a:lnT>
                    <a:lnB>
                      <a:noFill/>
                    </a:lnB>
                    <a:noFill/>
                  </a:tcPr>
                </a:tc>
                <a:extLst>
                  <a:ext uri="{0D108BD9-81ED-4DB2-BD59-A6C34878D82A}">
                    <a16:rowId xmlns:a16="http://schemas.microsoft.com/office/drawing/2014/main" val="4278776465"/>
                  </a:ext>
                </a:extLst>
              </a:tr>
              <a:tr h="327819">
                <a:tc>
                  <a:txBody>
                    <a:bodyPr/>
                    <a:lstStyle/>
                    <a:p>
                      <a:pPr>
                        <a:buNone/>
                      </a:pPr>
                      <a:r>
                        <a:rPr lang="en-IN" sz="1600"/>
                        <a:t>1</a:t>
                      </a:r>
                    </a:p>
                  </a:txBody>
                  <a:tcPr marL="81955" marR="81955" marT="40977" marB="40977" anchor="ctr">
                    <a:lnL>
                      <a:noFill/>
                    </a:lnL>
                    <a:lnR>
                      <a:noFill/>
                    </a:lnR>
                    <a:lnT>
                      <a:noFill/>
                    </a:lnT>
                    <a:lnB>
                      <a:noFill/>
                    </a:lnB>
                    <a:noFill/>
                  </a:tcPr>
                </a:tc>
                <a:tc>
                  <a:txBody>
                    <a:bodyPr/>
                    <a:lstStyle/>
                    <a:p>
                      <a:pPr>
                        <a:buNone/>
                      </a:pPr>
                      <a:r>
                        <a:rPr lang="en-IN" sz="1600"/>
                        <a:t>Introduction</a:t>
                      </a:r>
                    </a:p>
                  </a:txBody>
                  <a:tcPr marL="81955" marR="81955" marT="40977" marB="40977" anchor="ctr">
                    <a:lnL>
                      <a:noFill/>
                    </a:lnL>
                    <a:lnR>
                      <a:noFill/>
                    </a:lnR>
                    <a:lnT>
                      <a:noFill/>
                    </a:lnT>
                    <a:lnB>
                      <a:noFill/>
                    </a:lnB>
                    <a:noFill/>
                  </a:tcPr>
                </a:tc>
                <a:extLst>
                  <a:ext uri="{0D108BD9-81ED-4DB2-BD59-A6C34878D82A}">
                    <a16:rowId xmlns:a16="http://schemas.microsoft.com/office/drawing/2014/main" val="316757185"/>
                  </a:ext>
                </a:extLst>
              </a:tr>
              <a:tr h="327819">
                <a:tc>
                  <a:txBody>
                    <a:bodyPr/>
                    <a:lstStyle/>
                    <a:p>
                      <a:pPr>
                        <a:buNone/>
                      </a:pPr>
                      <a:r>
                        <a:rPr lang="en-IN" sz="1600"/>
                        <a:t>2</a:t>
                      </a:r>
                    </a:p>
                  </a:txBody>
                  <a:tcPr marL="81955" marR="81955" marT="40977" marB="40977" anchor="ctr">
                    <a:lnL>
                      <a:noFill/>
                    </a:lnL>
                    <a:lnR>
                      <a:noFill/>
                    </a:lnR>
                    <a:lnT>
                      <a:noFill/>
                    </a:lnT>
                    <a:lnB>
                      <a:noFill/>
                    </a:lnB>
                    <a:noFill/>
                  </a:tcPr>
                </a:tc>
                <a:tc>
                  <a:txBody>
                    <a:bodyPr/>
                    <a:lstStyle/>
                    <a:p>
                      <a:pPr>
                        <a:buNone/>
                      </a:pPr>
                      <a:r>
                        <a:rPr lang="en-IN" sz="1600"/>
                        <a:t>Project Overview</a:t>
                      </a:r>
                    </a:p>
                  </a:txBody>
                  <a:tcPr marL="81955" marR="81955" marT="40977" marB="40977" anchor="ctr">
                    <a:lnL>
                      <a:noFill/>
                    </a:lnL>
                    <a:lnR>
                      <a:noFill/>
                    </a:lnR>
                    <a:lnT>
                      <a:noFill/>
                    </a:lnT>
                    <a:lnB>
                      <a:noFill/>
                    </a:lnB>
                    <a:noFill/>
                  </a:tcPr>
                </a:tc>
                <a:extLst>
                  <a:ext uri="{0D108BD9-81ED-4DB2-BD59-A6C34878D82A}">
                    <a16:rowId xmlns:a16="http://schemas.microsoft.com/office/drawing/2014/main" val="653524847"/>
                  </a:ext>
                </a:extLst>
              </a:tr>
              <a:tr h="327819">
                <a:tc>
                  <a:txBody>
                    <a:bodyPr/>
                    <a:lstStyle/>
                    <a:p>
                      <a:pPr>
                        <a:buNone/>
                      </a:pPr>
                      <a:r>
                        <a:rPr lang="en-IN" sz="1600"/>
                        <a:t>3</a:t>
                      </a:r>
                    </a:p>
                  </a:txBody>
                  <a:tcPr marL="81955" marR="81955" marT="40977" marB="40977" anchor="ctr">
                    <a:lnL>
                      <a:noFill/>
                    </a:lnL>
                    <a:lnR>
                      <a:noFill/>
                    </a:lnR>
                    <a:lnT>
                      <a:noFill/>
                    </a:lnT>
                    <a:lnB>
                      <a:noFill/>
                    </a:lnB>
                    <a:noFill/>
                  </a:tcPr>
                </a:tc>
                <a:tc>
                  <a:txBody>
                    <a:bodyPr/>
                    <a:lstStyle/>
                    <a:p>
                      <a:pPr>
                        <a:buNone/>
                      </a:pPr>
                      <a:r>
                        <a:rPr lang="en-IN" sz="1600"/>
                        <a:t>Objectives of the Project</a:t>
                      </a:r>
                    </a:p>
                  </a:txBody>
                  <a:tcPr marL="81955" marR="81955" marT="40977" marB="40977" anchor="ctr">
                    <a:lnL>
                      <a:noFill/>
                    </a:lnL>
                    <a:lnR>
                      <a:noFill/>
                    </a:lnR>
                    <a:lnT>
                      <a:noFill/>
                    </a:lnT>
                    <a:lnB>
                      <a:noFill/>
                    </a:lnB>
                    <a:noFill/>
                  </a:tcPr>
                </a:tc>
                <a:extLst>
                  <a:ext uri="{0D108BD9-81ED-4DB2-BD59-A6C34878D82A}">
                    <a16:rowId xmlns:a16="http://schemas.microsoft.com/office/drawing/2014/main" val="1246016817"/>
                  </a:ext>
                </a:extLst>
              </a:tr>
              <a:tr h="327819">
                <a:tc>
                  <a:txBody>
                    <a:bodyPr/>
                    <a:lstStyle/>
                    <a:p>
                      <a:pPr>
                        <a:buNone/>
                      </a:pPr>
                      <a:r>
                        <a:rPr lang="en-IN" sz="1600"/>
                        <a:t>4</a:t>
                      </a:r>
                    </a:p>
                  </a:txBody>
                  <a:tcPr marL="81955" marR="81955" marT="40977" marB="40977" anchor="ctr">
                    <a:lnL>
                      <a:noFill/>
                    </a:lnL>
                    <a:lnR>
                      <a:noFill/>
                    </a:lnR>
                    <a:lnT>
                      <a:noFill/>
                    </a:lnT>
                    <a:lnB>
                      <a:noFill/>
                    </a:lnB>
                    <a:noFill/>
                  </a:tcPr>
                </a:tc>
                <a:tc>
                  <a:txBody>
                    <a:bodyPr/>
                    <a:lstStyle/>
                    <a:p>
                      <a:pPr>
                        <a:buNone/>
                      </a:pPr>
                      <a:r>
                        <a:rPr lang="en-IN" sz="1600"/>
                        <a:t>Practical Motivation</a:t>
                      </a:r>
                    </a:p>
                  </a:txBody>
                  <a:tcPr marL="81955" marR="81955" marT="40977" marB="40977" anchor="ctr">
                    <a:lnL>
                      <a:noFill/>
                    </a:lnL>
                    <a:lnR>
                      <a:noFill/>
                    </a:lnR>
                    <a:lnT>
                      <a:noFill/>
                    </a:lnT>
                    <a:lnB>
                      <a:noFill/>
                    </a:lnB>
                    <a:noFill/>
                  </a:tcPr>
                </a:tc>
                <a:extLst>
                  <a:ext uri="{0D108BD9-81ED-4DB2-BD59-A6C34878D82A}">
                    <a16:rowId xmlns:a16="http://schemas.microsoft.com/office/drawing/2014/main" val="2818244180"/>
                  </a:ext>
                </a:extLst>
              </a:tr>
              <a:tr h="327819">
                <a:tc>
                  <a:txBody>
                    <a:bodyPr/>
                    <a:lstStyle/>
                    <a:p>
                      <a:pPr>
                        <a:buNone/>
                      </a:pPr>
                      <a:r>
                        <a:rPr lang="en-IN" sz="1600"/>
                        <a:t>5</a:t>
                      </a:r>
                    </a:p>
                  </a:txBody>
                  <a:tcPr marL="81955" marR="81955" marT="40977" marB="40977" anchor="ctr">
                    <a:lnL>
                      <a:noFill/>
                    </a:lnL>
                    <a:lnR>
                      <a:noFill/>
                    </a:lnR>
                    <a:lnT>
                      <a:noFill/>
                    </a:lnT>
                    <a:lnB>
                      <a:noFill/>
                    </a:lnB>
                    <a:noFill/>
                  </a:tcPr>
                </a:tc>
                <a:tc>
                  <a:txBody>
                    <a:bodyPr/>
                    <a:lstStyle/>
                    <a:p>
                      <a:pPr>
                        <a:buNone/>
                      </a:pPr>
                      <a:r>
                        <a:rPr lang="en-IN" sz="1600"/>
                        <a:t>Scope of the Project</a:t>
                      </a:r>
                    </a:p>
                  </a:txBody>
                  <a:tcPr marL="81955" marR="81955" marT="40977" marB="40977" anchor="ctr">
                    <a:lnL>
                      <a:noFill/>
                    </a:lnL>
                    <a:lnR>
                      <a:noFill/>
                    </a:lnR>
                    <a:lnT>
                      <a:noFill/>
                    </a:lnT>
                    <a:lnB>
                      <a:noFill/>
                    </a:lnB>
                    <a:noFill/>
                  </a:tcPr>
                </a:tc>
                <a:extLst>
                  <a:ext uri="{0D108BD9-81ED-4DB2-BD59-A6C34878D82A}">
                    <a16:rowId xmlns:a16="http://schemas.microsoft.com/office/drawing/2014/main" val="3064417075"/>
                  </a:ext>
                </a:extLst>
              </a:tr>
              <a:tr h="327819">
                <a:tc>
                  <a:txBody>
                    <a:bodyPr/>
                    <a:lstStyle/>
                    <a:p>
                      <a:pPr>
                        <a:buNone/>
                      </a:pPr>
                      <a:r>
                        <a:rPr lang="en-IN" sz="1600"/>
                        <a:t>6</a:t>
                      </a:r>
                    </a:p>
                  </a:txBody>
                  <a:tcPr marL="81955" marR="81955" marT="40977" marB="40977" anchor="ctr">
                    <a:lnL>
                      <a:noFill/>
                    </a:lnL>
                    <a:lnR>
                      <a:noFill/>
                    </a:lnR>
                    <a:lnT>
                      <a:noFill/>
                    </a:lnT>
                    <a:lnB>
                      <a:noFill/>
                    </a:lnB>
                    <a:noFill/>
                  </a:tcPr>
                </a:tc>
                <a:tc>
                  <a:txBody>
                    <a:bodyPr/>
                    <a:lstStyle/>
                    <a:p>
                      <a:pPr>
                        <a:buNone/>
                      </a:pPr>
                      <a:r>
                        <a:rPr lang="en-IN" sz="1600"/>
                        <a:t>System Requirements</a:t>
                      </a:r>
                    </a:p>
                  </a:txBody>
                  <a:tcPr marL="81955" marR="81955" marT="40977" marB="40977" anchor="ctr">
                    <a:lnL>
                      <a:noFill/>
                    </a:lnL>
                    <a:lnR>
                      <a:noFill/>
                    </a:lnR>
                    <a:lnT>
                      <a:noFill/>
                    </a:lnT>
                    <a:lnB>
                      <a:noFill/>
                    </a:lnB>
                    <a:noFill/>
                  </a:tcPr>
                </a:tc>
                <a:extLst>
                  <a:ext uri="{0D108BD9-81ED-4DB2-BD59-A6C34878D82A}">
                    <a16:rowId xmlns:a16="http://schemas.microsoft.com/office/drawing/2014/main" val="4216100758"/>
                  </a:ext>
                </a:extLst>
              </a:tr>
              <a:tr h="327819">
                <a:tc>
                  <a:txBody>
                    <a:bodyPr/>
                    <a:lstStyle/>
                    <a:p>
                      <a:pPr>
                        <a:buNone/>
                      </a:pPr>
                      <a:r>
                        <a:rPr lang="en-IN" sz="1600"/>
                        <a:t>7</a:t>
                      </a:r>
                    </a:p>
                  </a:txBody>
                  <a:tcPr marL="81955" marR="81955" marT="40977" marB="40977" anchor="ctr">
                    <a:lnL>
                      <a:noFill/>
                    </a:lnL>
                    <a:lnR>
                      <a:noFill/>
                    </a:lnR>
                    <a:lnT>
                      <a:noFill/>
                    </a:lnT>
                    <a:lnB>
                      <a:noFill/>
                    </a:lnB>
                    <a:noFill/>
                  </a:tcPr>
                </a:tc>
                <a:tc>
                  <a:txBody>
                    <a:bodyPr/>
                    <a:lstStyle/>
                    <a:p>
                      <a:pPr>
                        <a:buNone/>
                      </a:pPr>
                      <a:r>
                        <a:rPr lang="en-IN" sz="1600"/>
                        <a:t>Technology Used</a:t>
                      </a:r>
                    </a:p>
                  </a:txBody>
                  <a:tcPr marL="81955" marR="81955" marT="40977" marB="40977" anchor="ctr">
                    <a:lnL>
                      <a:noFill/>
                    </a:lnL>
                    <a:lnR>
                      <a:noFill/>
                    </a:lnR>
                    <a:lnT>
                      <a:noFill/>
                    </a:lnT>
                    <a:lnB>
                      <a:noFill/>
                    </a:lnB>
                    <a:noFill/>
                  </a:tcPr>
                </a:tc>
                <a:extLst>
                  <a:ext uri="{0D108BD9-81ED-4DB2-BD59-A6C34878D82A}">
                    <a16:rowId xmlns:a16="http://schemas.microsoft.com/office/drawing/2014/main" val="675855262"/>
                  </a:ext>
                </a:extLst>
              </a:tr>
              <a:tr h="327819">
                <a:tc>
                  <a:txBody>
                    <a:bodyPr/>
                    <a:lstStyle/>
                    <a:p>
                      <a:pPr>
                        <a:buNone/>
                      </a:pPr>
                      <a:r>
                        <a:rPr lang="en-IN" sz="1600"/>
                        <a:t>8</a:t>
                      </a:r>
                    </a:p>
                  </a:txBody>
                  <a:tcPr marL="81955" marR="81955" marT="40977" marB="40977" anchor="ctr">
                    <a:lnL>
                      <a:noFill/>
                    </a:lnL>
                    <a:lnR>
                      <a:noFill/>
                    </a:lnR>
                    <a:lnT>
                      <a:noFill/>
                    </a:lnT>
                    <a:lnB>
                      <a:noFill/>
                    </a:lnB>
                    <a:noFill/>
                  </a:tcPr>
                </a:tc>
                <a:tc>
                  <a:txBody>
                    <a:bodyPr/>
                    <a:lstStyle/>
                    <a:p>
                      <a:pPr>
                        <a:buNone/>
                      </a:pPr>
                      <a:r>
                        <a:rPr lang="en-IN" sz="1600"/>
                        <a:t>Module Description</a:t>
                      </a:r>
                    </a:p>
                  </a:txBody>
                  <a:tcPr marL="81955" marR="81955" marT="40977" marB="40977" anchor="ctr">
                    <a:lnL>
                      <a:noFill/>
                    </a:lnL>
                    <a:lnR>
                      <a:noFill/>
                    </a:lnR>
                    <a:lnT>
                      <a:noFill/>
                    </a:lnT>
                    <a:lnB>
                      <a:noFill/>
                    </a:lnB>
                    <a:noFill/>
                  </a:tcPr>
                </a:tc>
                <a:extLst>
                  <a:ext uri="{0D108BD9-81ED-4DB2-BD59-A6C34878D82A}">
                    <a16:rowId xmlns:a16="http://schemas.microsoft.com/office/drawing/2014/main" val="1965468485"/>
                  </a:ext>
                </a:extLst>
              </a:tr>
              <a:tr h="327819">
                <a:tc>
                  <a:txBody>
                    <a:bodyPr/>
                    <a:lstStyle/>
                    <a:p>
                      <a:pPr>
                        <a:buNone/>
                      </a:pPr>
                      <a:r>
                        <a:rPr lang="en-IN" sz="1600"/>
                        <a:t>9</a:t>
                      </a:r>
                    </a:p>
                  </a:txBody>
                  <a:tcPr marL="81955" marR="81955" marT="40977" marB="40977" anchor="ctr">
                    <a:lnL>
                      <a:noFill/>
                    </a:lnL>
                    <a:lnR>
                      <a:noFill/>
                    </a:lnR>
                    <a:lnT>
                      <a:noFill/>
                    </a:lnT>
                    <a:lnB>
                      <a:noFill/>
                    </a:lnB>
                    <a:noFill/>
                  </a:tcPr>
                </a:tc>
                <a:tc>
                  <a:txBody>
                    <a:bodyPr/>
                    <a:lstStyle/>
                    <a:p>
                      <a:pPr>
                        <a:buNone/>
                      </a:pPr>
                      <a:r>
                        <a:rPr lang="en-IN" sz="1600"/>
                        <a:t>Working of the System</a:t>
                      </a:r>
                    </a:p>
                  </a:txBody>
                  <a:tcPr marL="81955" marR="81955" marT="40977" marB="40977" anchor="ctr">
                    <a:lnL>
                      <a:noFill/>
                    </a:lnL>
                    <a:lnR>
                      <a:noFill/>
                    </a:lnR>
                    <a:lnT>
                      <a:noFill/>
                    </a:lnT>
                    <a:lnB>
                      <a:noFill/>
                    </a:lnB>
                    <a:noFill/>
                  </a:tcPr>
                </a:tc>
                <a:extLst>
                  <a:ext uri="{0D108BD9-81ED-4DB2-BD59-A6C34878D82A}">
                    <a16:rowId xmlns:a16="http://schemas.microsoft.com/office/drawing/2014/main" val="1698349552"/>
                  </a:ext>
                </a:extLst>
              </a:tr>
              <a:tr h="327819">
                <a:tc>
                  <a:txBody>
                    <a:bodyPr/>
                    <a:lstStyle/>
                    <a:p>
                      <a:pPr>
                        <a:buNone/>
                      </a:pPr>
                      <a:r>
                        <a:rPr lang="en-IN" sz="1600"/>
                        <a:t>10</a:t>
                      </a:r>
                    </a:p>
                  </a:txBody>
                  <a:tcPr marL="81955" marR="81955" marT="40977" marB="40977" anchor="ctr">
                    <a:lnL>
                      <a:noFill/>
                    </a:lnL>
                    <a:lnR>
                      <a:noFill/>
                    </a:lnR>
                    <a:lnT>
                      <a:noFill/>
                    </a:lnT>
                    <a:lnB>
                      <a:noFill/>
                    </a:lnB>
                    <a:noFill/>
                  </a:tcPr>
                </a:tc>
                <a:tc>
                  <a:txBody>
                    <a:bodyPr/>
                    <a:lstStyle/>
                    <a:p>
                      <a:pPr>
                        <a:buNone/>
                      </a:pPr>
                      <a:r>
                        <a:rPr lang="en-IN" sz="1600"/>
                        <a:t>Program Code Overview</a:t>
                      </a:r>
                    </a:p>
                  </a:txBody>
                  <a:tcPr marL="81955" marR="81955" marT="40977" marB="40977" anchor="ctr">
                    <a:lnL>
                      <a:noFill/>
                    </a:lnL>
                    <a:lnR>
                      <a:noFill/>
                    </a:lnR>
                    <a:lnT>
                      <a:noFill/>
                    </a:lnT>
                    <a:lnB>
                      <a:noFill/>
                    </a:lnB>
                    <a:noFill/>
                  </a:tcPr>
                </a:tc>
                <a:extLst>
                  <a:ext uri="{0D108BD9-81ED-4DB2-BD59-A6C34878D82A}">
                    <a16:rowId xmlns:a16="http://schemas.microsoft.com/office/drawing/2014/main" val="635493663"/>
                  </a:ext>
                </a:extLst>
              </a:tr>
              <a:tr h="327819">
                <a:tc>
                  <a:txBody>
                    <a:bodyPr/>
                    <a:lstStyle/>
                    <a:p>
                      <a:pPr>
                        <a:buNone/>
                      </a:pPr>
                      <a:r>
                        <a:rPr lang="en-IN" sz="1600"/>
                        <a:t>11</a:t>
                      </a:r>
                    </a:p>
                  </a:txBody>
                  <a:tcPr marL="81955" marR="81955" marT="40977" marB="40977" anchor="ctr">
                    <a:lnL>
                      <a:noFill/>
                    </a:lnL>
                    <a:lnR>
                      <a:noFill/>
                    </a:lnR>
                    <a:lnT>
                      <a:noFill/>
                    </a:lnT>
                    <a:lnB>
                      <a:noFill/>
                    </a:lnB>
                    <a:noFill/>
                  </a:tcPr>
                </a:tc>
                <a:tc>
                  <a:txBody>
                    <a:bodyPr/>
                    <a:lstStyle/>
                    <a:p>
                      <a:pPr>
                        <a:buNone/>
                      </a:pPr>
                      <a:r>
                        <a:rPr lang="en-IN" sz="1600"/>
                        <a:t>Sample Output</a:t>
                      </a:r>
                    </a:p>
                  </a:txBody>
                  <a:tcPr marL="81955" marR="81955" marT="40977" marB="40977" anchor="ctr">
                    <a:lnL>
                      <a:noFill/>
                    </a:lnL>
                    <a:lnR>
                      <a:noFill/>
                    </a:lnR>
                    <a:lnT>
                      <a:noFill/>
                    </a:lnT>
                    <a:lnB>
                      <a:noFill/>
                    </a:lnB>
                    <a:noFill/>
                  </a:tcPr>
                </a:tc>
                <a:extLst>
                  <a:ext uri="{0D108BD9-81ED-4DB2-BD59-A6C34878D82A}">
                    <a16:rowId xmlns:a16="http://schemas.microsoft.com/office/drawing/2014/main" val="2715515602"/>
                  </a:ext>
                </a:extLst>
              </a:tr>
              <a:tr h="327819">
                <a:tc>
                  <a:txBody>
                    <a:bodyPr/>
                    <a:lstStyle/>
                    <a:p>
                      <a:pPr>
                        <a:buNone/>
                      </a:pPr>
                      <a:r>
                        <a:rPr lang="en-IN" sz="1600"/>
                        <a:t>12</a:t>
                      </a:r>
                    </a:p>
                  </a:txBody>
                  <a:tcPr marL="81955" marR="81955" marT="40977" marB="40977" anchor="ctr">
                    <a:lnL>
                      <a:noFill/>
                    </a:lnL>
                    <a:lnR>
                      <a:noFill/>
                    </a:lnR>
                    <a:lnT>
                      <a:noFill/>
                    </a:lnT>
                    <a:lnB>
                      <a:noFill/>
                    </a:lnB>
                    <a:noFill/>
                  </a:tcPr>
                </a:tc>
                <a:tc>
                  <a:txBody>
                    <a:bodyPr/>
                    <a:lstStyle/>
                    <a:p>
                      <a:pPr>
                        <a:buNone/>
                      </a:pPr>
                      <a:r>
                        <a:rPr lang="en-IN" sz="1600"/>
                        <a:t>Advantages</a:t>
                      </a:r>
                    </a:p>
                  </a:txBody>
                  <a:tcPr marL="81955" marR="81955" marT="40977" marB="40977" anchor="ctr">
                    <a:lnL>
                      <a:noFill/>
                    </a:lnL>
                    <a:lnR>
                      <a:noFill/>
                    </a:lnR>
                    <a:lnT>
                      <a:noFill/>
                    </a:lnT>
                    <a:lnB>
                      <a:noFill/>
                    </a:lnB>
                    <a:noFill/>
                  </a:tcPr>
                </a:tc>
                <a:extLst>
                  <a:ext uri="{0D108BD9-81ED-4DB2-BD59-A6C34878D82A}">
                    <a16:rowId xmlns:a16="http://schemas.microsoft.com/office/drawing/2014/main" val="138955324"/>
                  </a:ext>
                </a:extLst>
              </a:tr>
              <a:tr h="327819">
                <a:tc>
                  <a:txBody>
                    <a:bodyPr/>
                    <a:lstStyle/>
                    <a:p>
                      <a:pPr>
                        <a:buNone/>
                      </a:pPr>
                      <a:r>
                        <a:rPr lang="en-IN" sz="1600"/>
                        <a:t>13</a:t>
                      </a:r>
                    </a:p>
                  </a:txBody>
                  <a:tcPr marL="81955" marR="81955" marT="40977" marB="40977" anchor="ctr">
                    <a:lnL>
                      <a:noFill/>
                    </a:lnL>
                    <a:lnR>
                      <a:noFill/>
                    </a:lnR>
                    <a:lnT>
                      <a:noFill/>
                    </a:lnT>
                    <a:lnB>
                      <a:noFill/>
                    </a:lnB>
                    <a:noFill/>
                  </a:tcPr>
                </a:tc>
                <a:tc>
                  <a:txBody>
                    <a:bodyPr/>
                    <a:lstStyle/>
                    <a:p>
                      <a:pPr>
                        <a:buNone/>
                      </a:pPr>
                      <a:r>
                        <a:rPr lang="en-IN" sz="1600"/>
                        <a:t>Limitations</a:t>
                      </a:r>
                    </a:p>
                  </a:txBody>
                  <a:tcPr marL="81955" marR="81955" marT="40977" marB="40977" anchor="ctr">
                    <a:lnL>
                      <a:noFill/>
                    </a:lnL>
                    <a:lnR>
                      <a:noFill/>
                    </a:lnR>
                    <a:lnT>
                      <a:noFill/>
                    </a:lnT>
                    <a:lnB>
                      <a:noFill/>
                    </a:lnB>
                    <a:noFill/>
                  </a:tcPr>
                </a:tc>
                <a:extLst>
                  <a:ext uri="{0D108BD9-81ED-4DB2-BD59-A6C34878D82A}">
                    <a16:rowId xmlns:a16="http://schemas.microsoft.com/office/drawing/2014/main" val="754866698"/>
                  </a:ext>
                </a:extLst>
              </a:tr>
              <a:tr h="327819">
                <a:tc>
                  <a:txBody>
                    <a:bodyPr/>
                    <a:lstStyle/>
                    <a:p>
                      <a:pPr>
                        <a:buNone/>
                      </a:pPr>
                      <a:r>
                        <a:rPr lang="en-IN" sz="1600"/>
                        <a:t>14</a:t>
                      </a:r>
                    </a:p>
                  </a:txBody>
                  <a:tcPr marL="81955" marR="81955" marT="40977" marB="40977" anchor="ctr">
                    <a:lnL>
                      <a:noFill/>
                    </a:lnL>
                    <a:lnR>
                      <a:noFill/>
                    </a:lnR>
                    <a:lnT>
                      <a:noFill/>
                    </a:lnT>
                    <a:lnB>
                      <a:noFill/>
                    </a:lnB>
                    <a:noFill/>
                  </a:tcPr>
                </a:tc>
                <a:tc>
                  <a:txBody>
                    <a:bodyPr/>
                    <a:lstStyle/>
                    <a:p>
                      <a:pPr>
                        <a:buNone/>
                      </a:pPr>
                      <a:r>
                        <a:rPr lang="en-IN" sz="1600"/>
                        <a:t>Applications</a:t>
                      </a:r>
                    </a:p>
                  </a:txBody>
                  <a:tcPr marL="81955" marR="81955" marT="40977" marB="40977" anchor="ctr">
                    <a:lnL>
                      <a:noFill/>
                    </a:lnL>
                    <a:lnR>
                      <a:noFill/>
                    </a:lnR>
                    <a:lnT>
                      <a:noFill/>
                    </a:lnT>
                    <a:lnB>
                      <a:noFill/>
                    </a:lnB>
                    <a:noFill/>
                  </a:tcPr>
                </a:tc>
                <a:extLst>
                  <a:ext uri="{0D108BD9-81ED-4DB2-BD59-A6C34878D82A}">
                    <a16:rowId xmlns:a16="http://schemas.microsoft.com/office/drawing/2014/main" val="2848915650"/>
                  </a:ext>
                </a:extLst>
              </a:tr>
              <a:tr h="327819">
                <a:tc>
                  <a:txBody>
                    <a:bodyPr/>
                    <a:lstStyle/>
                    <a:p>
                      <a:pPr>
                        <a:buNone/>
                      </a:pPr>
                      <a:r>
                        <a:rPr lang="en-IN" sz="1600"/>
                        <a:t>15</a:t>
                      </a:r>
                    </a:p>
                  </a:txBody>
                  <a:tcPr marL="81955" marR="81955" marT="40977" marB="40977" anchor="ctr">
                    <a:lnL>
                      <a:noFill/>
                    </a:lnL>
                    <a:lnR>
                      <a:noFill/>
                    </a:lnR>
                    <a:lnT>
                      <a:noFill/>
                    </a:lnT>
                    <a:lnB>
                      <a:noFill/>
                    </a:lnB>
                    <a:noFill/>
                  </a:tcPr>
                </a:tc>
                <a:tc>
                  <a:txBody>
                    <a:bodyPr/>
                    <a:lstStyle/>
                    <a:p>
                      <a:pPr>
                        <a:buNone/>
                      </a:pPr>
                      <a:r>
                        <a:rPr lang="en-IN" sz="1600"/>
                        <a:t>Future Enhancements</a:t>
                      </a:r>
                    </a:p>
                  </a:txBody>
                  <a:tcPr marL="81955" marR="81955" marT="40977" marB="40977" anchor="ctr">
                    <a:lnL>
                      <a:noFill/>
                    </a:lnL>
                    <a:lnR>
                      <a:noFill/>
                    </a:lnR>
                    <a:lnT>
                      <a:noFill/>
                    </a:lnT>
                    <a:lnB>
                      <a:noFill/>
                    </a:lnB>
                    <a:noFill/>
                  </a:tcPr>
                </a:tc>
                <a:extLst>
                  <a:ext uri="{0D108BD9-81ED-4DB2-BD59-A6C34878D82A}">
                    <a16:rowId xmlns:a16="http://schemas.microsoft.com/office/drawing/2014/main" val="22082907"/>
                  </a:ext>
                </a:extLst>
              </a:tr>
              <a:tr h="327819">
                <a:tc>
                  <a:txBody>
                    <a:bodyPr/>
                    <a:lstStyle/>
                    <a:p>
                      <a:pPr>
                        <a:buNone/>
                      </a:pPr>
                      <a:r>
                        <a:rPr lang="en-IN" sz="1600"/>
                        <a:t>16</a:t>
                      </a:r>
                    </a:p>
                  </a:txBody>
                  <a:tcPr marL="81955" marR="81955" marT="40977" marB="40977" anchor="ctr">
                    <a:lnL>
                      <a:noFill/>
                    </a:lnL>
                    <a:lnR>
                      <a:noFill/>
                    </a:lnR>
                    <a:lnT>
                      <a:noFill/>
                    </a:lnT>
                    <a:lnB>
                      <a:noFill/>
                    </a:lnB>
                    <a:noFill/>
                  </a:tcPr>
                </a:tc>
                <a:tc>
                  <a:txBody>
                    <a:bodyPr/>
                    <a:lstStyle/>
                    <a:p>
                      <a:pPr>
                        <a:buNone/>
                      </a:pPr>
                      <a:r>
                        <a:rPr lang="en-IN" sz="1600"/>
                        <a:t>Conclusion</a:t>
                      </a:r>
                    </a:p>
                  </a:txBody>
                  <a:tcPr marL="81955" marR="81955" marT="40977" marB="40977" anchor="ctr">
                    <a:lnL>
                      <a:noFill/>
                    </a:lnL>
                    <a:lnR>
                      <a:noFill/>
                    </a:lnR>
                    <a:lnT>
                      <a:noFill/>
                    </a:lnT>
                    <a:lnB>
                      <a:noFill/>
                    </a:lnB>
                    <a:noFill/>
                  </a:tcPr>
                </a:tc>
                <a:extLst>
                  <a:ext uri="{0D108BD9-81ED-4DB2-BD59-A6C34878D82A}">
                    <a16:rowId xmlns:a16="http://schemas.microsoft.com/office/drawing/2014/main" val="3754378683"/>
                  </a:ext>
                </a:extLst>
              </a:tr>
              <a:tr h="327819">
                <a:tc>
                  <a:txBody>
                    <a:bodyPr/>
                    <a:lstStyle/>
                    <a:p>
                      <a:pPr>
                        <a:buNone/>
                      </a:pPr>
                      <a:r>
                        <a:rPr lang="en-IN" sz="1600"/>
                        <a:t>17</a:t>
                      </a:r>
                    </a:p>
                  </a:txBody>
                  <a:tcPr marL="81955" marR="81955" marT="40977" marB="40977" anchor="ctr">
                    <a:lnL>
                      <a:noFill/>
                    </a:lnL>
                    <a:lnR>
                      <a:noFill/>
                    </a:lnR>
                    <a:lnT>
                      <a:noFill/>
                    </a:lnT>
                    <a:lnB>
                      <a:noFill/>
                    </a:lnB>
                    <a:noFill/>
                  </a:tcPr>
                </a:tc>
                <a:tc>
                  <a:txBody>
                    <a:bodyPr/>
                    <a:lstStyle/>
                    <a:p>
                      <a:pPr>
                        <a:buNone/>
                      </a:pPr>
                      <a:r>
                        <a:rPr lang="en-IN" sz="1600" dirty="0"/>
                        <a:t>References</a:t>
                      </a:r>
                    </a:p>
                  </a:txBody>
                  <a:tcPr marL="81955" marR="81955" marT="40977" marB="40977" anchor="ctr">
                    <a:lnL>
                      <a:noFill/>
                    </a:lnL>
                    <a:lnR>
                      <a:noFill/>
                    </a:lnR>
                    <a:lnT>
                      <a:noFill/>
                    </a:lnT>
                    <a:lnB>
                      <a:noFill/>
                    </a:lnB>
                    <a:noFill/>
                  </a:tcPr>
                </a:tc>
                <a:extLst>
                  <a:ext uri="{0D108BD9-81ED-4DB2-BD59-A6C34878D82A}">
                    <a16:rowId xmlns:a16="http://schemas.microsoft.com/office/drawing/2014/main" val="391893577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7733"/>
            <a:ext cx="10515600" cy="745067"/>
          </a:xfrm>
        </p:spPr>
        <p:txBody>
          <a:bodyPr>
            <a:normAutofit/>
          </a:bodyPr>
          <a:lstStyle/>
          <a:p>
            <a:r>
              <a:rPr lang="en-US" dirty="0"/>
              <a:t>                         1.Introduction</a:t>
            </a:r>
            <a:endParaRPr lang="en-IN" dirty="0"/>
          </a:p>
        </p:txBody>
      </p:sp>
      <p:sp>
        <p:nvSpPr>
          <p:cNvPr id="3" name="Content Placeholder 2"/>
          <p:cNvSpPr>
            <a:spLocks noGrp="1"/>
          </p:cNvSpPr>
          <p:nvPr>
            <p:ph idx="1"/>
          </p:nvPr>
        </p:nvSpPr>
        <p:spPr>
          <a:xfrm>
            <a:off x="321733" y="948267"/>
            <a:ext cx="11032067" cy="5748866"/>
          </a:xfrm>
        </p:spPr>
        <p:txBody>
          <a:bodyPr>
            <a:normAutofit fontScale="85000" lnSpcReduction="10000"/>
          </a:bodyPr>
          <a:lstStyle/>
          <a:p>
            <a:pPr>
              <a:buFont typeface="Wingdings" panose="05000000000000000000" charset="0"/>
              <a:buChar char="Ø"/>
            </a:pPr>
            <a:r>
              <a:rPr lang="en-US" sz="1800" dirty="0"/>
              <a:t>In today’s digital environment, files are constantly created, modified, transferred, and deleted. Unauthorized file access or movement can lead to </a:t>
            </a:r>
            <a:r>
              <a:rPr lang="en-US" sz="1800" b="1" dirty="0"/>
              <a:t>data leakage, malware spread, and security breaches</a:t>
            </a:r>
            <a:r>
              <a:rPr lang="en-US" sz="1800" dirty="0"/>
              <a:t>.</a:t>
            </a:r>
          </a:p>
          <a:p>
            <a:pPr>
              <a:buFont typeface="Wingdings" panose="05000000000000000000" charset="0"/>
              <a:buChar char="Ø"/>
            </a:pPr>
            <a:r>
              <a:rPr lang="en-US" sz="1800" dirty="0"/>
              <a:t>This project implements a </a:t>
            </a:r>
            <a:r>
              <a:rPr lang="en-US" sz="1800" b="1" dirty="0"/>
              <a:t>Secure File Transfer Monitoring System</a:t>
            </a:r>
            <a:r>
              <a:rPr lang="en-US" sz="1800" dirty="0"/>
              <a:t> using </a:t>
            </a:r>
            <a:r>
              <a:rPr lang="en-US" sz="1800" b="1" dirty="0"/>
              <a:t>Python</a:t>
            </a:r>
            <a:r>
              <a:rPr lang="en-US" sz="1800" dirty="0"/>
              <a:t> that continuously monitors a specified directory and records all file-related activities. It also detects sensitive file access and generates alerts for security auditing.</a:t>
            </a:r>
          </a:p>
          <a:p>
            <a:pPr>
              <a:buFont typeface="Wingdings" panose="05000000000000000000" charset="0"/>
              <a:buChar char="Ø"/>
            </a:pPr>
            <a:r>
              <a:rPr lang="en-US" altLang="en-US" sz="1800" dirty="0"/>
              <a:t>An important feature of this system is the monitoring of sensitive directories. Files located in these directories usually contain confidential or critical information. Any activity related to such files triggers an alert, allowing administrators to take immediate action. Additionally, the system maintains a log file that records all detected events, creating a reliable audit trail that can be used for security analysis and compliance purposes.</a:t>
            </a:r>
          </a:p>
          <a:p>
            <a:pPr>
              <a:buFont typeface="Wingdings" panose="05000000000000000000" charset="0"/>
              <a:buChar char="Ø"/>
            </a:pPr>
            <a:r>
              <a:rPr lang="en-US" altLang="en-US" sz="1800" dirty="0"/>
              <a:t>The Secure File Transfer Monitoring System is useful in various environments such as corporate offices, educational institutions, malware analysis labs, and secure data handling systems. Although the project is console-based, it demonstrates core concepts of file system monitoring, security auditing, and integrity verification. This project provides a strong foundation for understanding how automated monitoring tools can enhance data security and can be further extended with advanced features in future.</a:t>
            </a:r>
          </a:p>
          <a:p>
            <a:pPr>
              <a:buFont typeface="Wingdings" panose="05000000000000000000" charset="0"/>
              <a:buChar char="Ø"/>
            </a:pPr>
            <a:r>
              <a:rPr lang="en-US" altLang="en-US" sz="1800" dirty="0"/>
              <a:t>A Secure File Transfer Monitoring System is designed to observe and record all file-related operations occurring within a specific directory. Instead of relying on manual supervision, this system provides automated, real-time monitoring of file system activities. It ensures that every important action such as file creation, modification, deletion, or movement is detected and logged for future reference.</a:t>
            </a:r>
          </a:p>
          <a:p>
            <a:pPr>
              <a:buFont typeface="Wingdings" panose="05000000000000000000" charset="0"/>
              <a:buChar char="Ø"/>
            </a:pPr>
            <a:r>
              <a:rPr lang="en-US" altLang="en-US" sz="1800" dirty="0"/>
              <a:t>In the modern digital world, data is one of the most valuable assets for individuals and organizations. Files containing important information are constantly created, modified, shared, transferred, and deleted on computer systems. However, this continuous movement of files also increases the risk of data theft, unauthorized access, accidental deletion, malware infection, and insider misuse. Therefore, monitoring file activities has become a critical requirement in maintaining system security.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934" y="330200"/>
            <a:ext cx="9076266" cy="736600"/>
          </a:xfrm>
        </p:spPr>
        <p:txBody>
          <a:bodyPr>
            <a:normAutofit/>
          </a:bodyPr>
          <a:lstStyle/>
          <a:p>
            <a:r>
              <a:rPr lang="en-IN" dirty="0"/>
              <a:t>                     </a:t>
            </a:r>
            <a:r>
              <a:rPr lang="en-US" altLang="en-IN" b="1" dirty="0"/>
              <a:t>2.</a:t>
            </a:r>
            <a:r>
              <a:rPr lang="en-IN" b="1" dirty="0"/>
              <a:t> Project Overview</a:t>
            </a:r>
          </a:p>
        </p:txBody>
      </p:sp>
      <p:sp>
        <p:nvSpPr>
          <p:cNvPr id="3" name="Content Placeholder 2"/>
          <p:cNvSpPr>
            <a:spLocks noGrp="1"/>
          </p:cNvSpPr>
          <p:nvPr>
            <p:ph idx="1"/>
          </p:nvPr>
        </p:nvSpPr>
        <p:spPr>
          <a:xfrm>
            <a:off x="194733" y="1176867"/>
            <a:ext cx="11159067" cy="5621866"/>
          </a:xfrm>
        </p:spPr>
        <p:txBody>
          <a:bodyPr/>
          <a:lstStyle/>
          <a:p>
            <a:r>
              <a:rPr lang="en-US" dirty="0"/>
              <a:t>The Secure File Transfer Monitoring System is a Python-based application that monitors a directory in real time and logs file system events such as:</a:t>
            </a:r>
          </a:p>
          <a:p>
            <a:r>
              <a:rPr lang="en-US" dirty="0"/>
              <a:t>File creation</a:t>
            </a:r>
          </a:p>
          <a:p>
            <a:r>
              <a:rPr lang="en-US" dirty="0"/>
              <a:t>File modification</a:t>
            </a:r>
          </a:p>
          <a:p>
            <a:r>
              <a:rPr lang="en-US" dirty="0"/>
              <a:t>File deletion</a:t>
            </a:r>
          </a:p>
          <a:p>
            <a:r>
              <a:rPr lang="en-US" dirty="0"/>
              <a:t>File movement</a:t>
            </a:r>
          </a:p>
          <a:p>
            <a:r>
              <a:rPr lang="en-US" dirty="0"/>
              <a:t>Additionally, the system:</a:t>
            </a:r>
          </a:p>
          <a:p>
            <a:r>
              <a:rPr lang="en-US" dirty="0"/>
              <a:t>Generates </a:t>
            </a:r>
            <a:r>
              <a:rPr lang="en-US" b="1" dirty="0"/>
              <a:t>SHA-256 hash values</a:t>
            </a:r>
            <a:r>
              <a:rPr lang="en-US" dirty="0"/>
              <a:t> to ensure file integrity</a:t>
            </a:r>
          </a:p>
          <a:p>
            <a:r>
              <a:rPr lang="en-US" dirty="0"/>
              <a:t>Detects activities inside </a:t>
            </a:r>
            <a:r>
              <a:rPr lang="en-US" b="1" dirty="0"/>
              <a:t>sensitive directories</a:t>
            </a:r>
            <a:endParaRPr lang="en-US" dirty="0"/>
          </a:p>
          <a:p>
            <a:r>
              <a:rPr lang="en-US" dirty="0"/>
              <a:t>Maintains a detailed </a:t>
            </a:r>
            <a:r>
              <a:rPr lang="en-US" b="1" dirty="0"/>
              <a:t>log file</a:t>
            </a:r>
            <a:r>
              <a:rPr lang="en-US" dirty="0"/>
              <a:t> for auditing purposes</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542"/>
          </a:xfrm>
        </p:spPr>
        <p:txBody>
          <a:bodyPr/>
          <a:lstStyle/>
          <a:p>
            <a:r>
              <a:rPr lang="en-US" dirty="0"/>
              <a:t>               </a:t>
            </a:r>
            <a:r>
              <a:rPr lang="en-US" b="1" dirty="0"/>
              <a:t>  3. Objectives of the Project</a:t>
            </a:r>
          </a:p>
        </p:txBody>
      </p:sp>
      <p:sp>
        <p:nvSpPr>
          <p:cNvPr id="3" name="Content Placeholder 2"/>
          <p:cNvSpPr>
            <a:spLocks noGrp="1"/>
          </p:cNvSpPr>
          <p:nvPr>
            <p:ph idx="1"/>
          </p:nvPr>
        </p:nvSpPr>
        <p:spPr>
          <a:xfrm>
            <a:off x="169333" y="1227668"/>
            <a:ext cx="11184467" cy="5494865"/>
          </a:xfrm>
        </p:spPr>
        <p:txBody>
          <a:bodyPr/>
          <a:lstStyle/>
          <a:p>
            <a:r>
              <a:rPr lang="en-US" dirty="0"/>
              <a:t>To monitor file activities in real time</a:t>
            </a:r>
          </a:p>
          <a:p>
            <a:r>
              <a:rPr lang="en-US" dirty="0"/>
              <a:t>To detect unauthorized file transfers</a:t>
            </a:r>
          </a:p>
          <a:p>
            <a:r>
              <a:rPr lang="en-US" dirty="0"/>
              <a:t>To maintain file integrity using hashing</a:t>
            </a:r>
          </a:p>
          <a:p>
            <a:r>
              <a:rPr lang="en-US" dirty="0"/>
              <a:t>To generate alerts for sensitive file operations</a:t>
            </a:r>
          </a:p>
          <a:p>
            <a:r>
              <a:rPr lang="en-US" dirty="0"/>
              <a:t>To provide a security audit trail through logging</a:t>
            </a:r>
          </a:p>
          <a:p>
            <a:pPr marL="0" indent="0">
              <a:buNone/>
            </a:pP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9090"/>
            <a:ext cx="10515600" cy="952500"/>
          </a:xfrm>
        </p:spPr>
        <p:txBody>
          <a:bodyPr/>
          <a:lstStyle/>
          <a:p>
            <a:r>
              <a:rPr lang="en-US"/>
              <a:t>                    </a:t>
            </a:r>
            <a:r>
              <a:rPr lang="en-US" b="1"/>
              <a:t> 4.Objective of Project</a:t>
            </a:r>
          </a:p>
        </p:txBody>
      </p:sp>
      <p:sp>
        <p:nvSpPr>
          <p:cNvPr id="3" name="Content Placeholder 2"/>
          <p:cNvSpPr>
            <a:spLocks noGrp="1"/>
          </p:cNvSpPr>
          <p:nvPr>
            <p:ph idx="1"/>
          </p:nvPr>
        </p:nvSpPr>
        <p:spPr>
          <a:xfrm>
            <a:off x="198120" y="1290955"/>
            <a:ext cx="11155680" cy="5348605"/>
          </a:xfrm>
        </p:spPr>
        <p:txBody>
          <a:bodyPr/>
          <a:lstStyle/>
          <a:p>
            <a:r>
              <a:rPr lang="en-US" altLang="en-US" sz="2000"/>
              <a:t>To monitor file activities in real time</a:t>
            </a:r>
          </a:p>
          <a:p>
            <a:endParaRPr lang="en-US" altLang="en-US" sz="2000"/>
          </a:p>
          <a:p>
            <a:r>
              <a:rPr lang="en-US" altLang="en-US" sz="2000"/>
              <a:t>To detect unauthorized file transfers</a:t>
            </a:r>
          </a:p>
          <a:p>
            <a:endParaRPr lang="en-US" altLang="en-US" sz="2000"/>
          </a:p>
          <a:p>
            <a:r>
              <a:rPr lang="en-US" altLang="en-US" sz="2000"/>
              <a:t>To maintain file integrity using hashing</a:t>
            </a:r>
          </a:p>
          <a:p>
            <a:endParaRPr lang="en-US" altLang="en-US" sz="2000"/>
          </a:p>
          <a:p>
            <a:r>
              <a:rPr lang="en-US" altLang="en-US" sz="2000"/>
              <a:t>To generate alerts for sensitive file operations</a:t>
            </a:r>
          </a:p>
          <a:p>
            <a:endParaRPr lang="en-US" altLang="en-US" sz="2000"/>
          </a:p>
          <a:p>
            <a:r>
              <a:rPr lang="en-US" altLang="en-US" sz="2000"/>
              <a:t>To provide a security audit trail through logging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r>
              <a:rPr lang="en-US" b="1"/>
              <a:t>5.Pratical Motivation</a:t>
            </a:r>
          </a:p>
        </p:txBody>
      </p:sp>
      <p:sp>
        <p:nvSpPr>
          <p:cNvPr id="3" name="Content Placeholder 2"/>
          <p:cNvSpPr>
            <a:spLocks noGrp="1"/>
          </p:cNvSpPr>
          <p:nvPr>
            <p:ph idx="1"/>
          </p:nvPr>
        </p:nvSpPr>
        <p:spPr>
          <a:xfrm>
            <a:off x="90805" y="1426210"/>
            <a:ext cx="11262995" cy="5240020"/>
          </a:xfrm>
        </p:spPr>
        <p:txBody>
          <a:bodyPr>
            <a:normAutofit/>
          </a:bodyPr>
          <a:lstStyle/>
          <a:p>
            <a:r>
              <a:rPr lang="en-US" altLang="en-US" sz="2000"/>
              <a:t>Organizations need to track file movement to prevent data loss</a:t>
            </a:r>
          </a:p>
          <a:p>
            <a:endParaRPr lang="en-US" altLang="en-US" sz="2000"/>
          </a:p>
          <a:p>
            <a:r>
              <a:rPr lang="en-US" altLang="en-US" sz="2000"/>
              <a:t>Sensitive files must be monitored for unauthorized access</a:t>
            </a:r>
          </a:p>
          <a:p>
            <a:endParaRPr lang="en-US" altLang="en-US" sz="2000"/>
          </a:p>
          <a:p>
            <a:r>
              <a:rPr lang="en-US" altLang="en-US" sz="2000"/>
              <a:t>Manual monitoring is inefficient and error-prone</a:t>
            </a:r>
          </a:p>
          <a:p>
            <a:endParaRPr lang="en-US" altLang="en-US" sz="2000"/>
          </a:p>
          <a:p>
            <a:r>
              <a:rPr lang="en-US" altLang="en-US" sz="2000"/>
              <a:t>Automated monitoring improves security, accountability, and compliance</a:t>
            </a:r>
          </a:p>
        </p:txBody>
      </p:sp>
      <p:graphicFrame>
        <p:nvGraphicFramePr>
          <p:cNvPr id="4" name="Table 3"/>
          <p:cNvGraphicFramePr>
            <a:graphicFrameLocks noGrp="1"/>
          </p:cNvGraphicFramePr>
          <p:nvPr>
            <p:custDataLst>
              <p:tags r:id="rId1"/>
            </p:custDataLst>
          </p:nvPr>
        </p:nvGraphicFramePr>
        <p:xfrm>
          <a:off x="3939540" y="511810"/>
          <a:ext cx="3128010" cy="1178560"/>
        </p:xfrm>
        <a:graphic>
          <a:graphicData uri="http://schemas.openxmlformats.org/drawingml/2006/table">
            <a:tbl>
              <a:tblPr/>
              <a:tblGrid>
                <a:gridCol w="3128010">
                  <a:extLst>
                    <a:ext uri="{9D8B030D-6E8A-4147-A177-3AD203B41FA5}">
                      <a16:colId xmlns:a16="http://schemas.microsoft.com/office/drawing/2014/main" val="20000"/>
                    </a:ext>
                  </a:extLst>
                </a:gridCol>
              </a:tblGrid>
              <a:tr h="1178560">
                <a:tc>
                  <a:txBody>
                    <a:bodyPr/>
                    <a:lstStyle/>
                    <a:p>
                      <a:pPr>
                        <a:buNone/>
                      </a:pPr>
                      <a:endParaRPr lang="en-IN" sz="1600"/>
                    </a:p>
                  </a:txBody>
                  <a:tcPr marL="81602" marR="81602" marT="40801" marB="40801" anchor="ctr">
                    <a:lnL>
                      <a:noFill/>
                    </a:lnL>
                    <a:lnR>
                      <a:noFill/>
                    </a:lnR>
                    <a:lnT>
                      <a:noFill/>
                    </a:lnT>
                    <a:lnB>
                      <a:noFill/>
                    </a:lnB>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91160"/>
            <a:ext cx="10515600" cy="1095375"/>
          </a:xfrm>
        </p:spPr>
        <p:txBody>
          <a:bodyPr/>
          <a:lstStyle/>
          <a:p>
            <a:r>
              <a:rPr lang="en-US"/>
              <a:t>                       </a:t>
            </a:r>
            <a:r>
              <a:rPr lang="en-US" b="1"/>
              <a:t> 6.Scope of Project</a:t>
            </a:r>
          </a:p>
        </p:txBody>
      </p:sp>
      <p:sp>
        <p:nvSpPr>
          <p:cNvPr id="3" name="Content Placeholder 2"/>
          <p:cNvSpPr>
            <a:spLocks noGrp="1"/>
          </p:cNvSpPr>
          <p:nvPr>
            <p:ph idx="1"/>
          </p:nvPr>
        </p:nvSpPr>
        <p:spPr>
          <a:xfrm>
            <a:off x="135890" y="1381125"/>
            <a:ext cx="11609070" cy="5476875"/>
          </a:xfrm>
        </p:spPr>
        <p:txBody>
          <a:bodyPr>
            <a:normAutofit/>
          </a:bodyPr>
          <a:lstStyle/>
          <a:p>
            <a:r>
              <a:rPr lang="en-US" altLang="en-US" sz="2000" b="1"/>
              <a:t>6.1 In-Scope</a:t>
            </a:r>
          </a:p>
          <a:p>
            <a:endParaRPr lang="en-US" altLang="en-US" sz="2000"/>
          </a:p>
          <a:p>
            <a:r>
              <a:rPr lang="en-US" altLang="en-US" sz="2000"/>
              <a:t>Monitor directories and subdirectories</a:t>
            </a:r>
          </a:p>
          <a:p>
            <a:endParaRPr lang="en-US" altLang="en-US" sz="2000"/>
          </a:p>
          <a:p>
            <a:r>
              <a:rPr lang="en-US" altLang="en-US" sz="2000"/>
              <a:t>Detect file creation, modification, deletion, and movement</a:t>
            </a:r>
          </a:p>
          <a:p>
            <a:endParaRPr lang="en-US" altLang="en-US" sz="2000"/>
          </a:p>
          <a:p>
            <a:r>
              <a:rPr lang="en-US" altLang="en-US" sz="2000"/>
              <a:t>Generate SHA-256 hash of files</a:t>
            </a:r>
          </a:p>
          <a:p>
            <a:endParaRPr lang="en-US" altLang="en-US" sz="2000"/>
          </a:p>
          <a:p>
            <a:r>
              <a:rPr lang="en-US" altLang="en-US" sz="2000"/>
              <a:t>Log all events into a log file</a:t>
            </a:r>
          </a:p>
          <a:p>
            <a:endParaRPr lang="en-US" altLang="en-US" sz="2000"/>
          </a:p>
          <a:p>
            <a:r>
              <a:rPr lang="en-US" altLang="en-US" sz="2000"/>
              <a:t>Identify sensitive file operation</a:t>
            </a:r>
            <a:r>
              <a:rPr lang="en-US" altLang="en-US" sz="1800"/>
              <a: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r>
              <a:rPr lang="en-US" b="1"/>
              <a:t>6.2</a:t>
            </a:r>
            <a:r>
              <a:rPr lang="en-US" altLang="en-US" b="1"/>
              <a:t>Out of Scope</a:t>
            </a:r>
          </a:p>
        </p:txBody>
      </p:sp>
      <p:sp>
        <p:nvSpPr>
          <p:cNvPr id="3" name="Content Placeholder 2"/>
          <p:cNvSpPr>
            <a:spLocks noGrp="1"/>
          </p:cNvSpPr>
          <p:nvPr>
            <p:ph idx="1"/>
          </p:nvPr>
        </p:nvSpPr>
        <p:spPr/>
        <p:txBody>
          <a:bodyPr/>
          <a:lstStyle/>
          <a:p>
            <a:r>
              <a:rPr lang="en-US" altLang="en-US" sz="1800"/>
              <a:t>Network-based file transfer monitoring</a:t>
            </a:r>
          </a:p>
          <a:p>
            <a:endParaRPr lang="en-US" altLang="en-US" sz="1800"/>
          </a:p>
          <a:p>
            <a:r>
              <a:rPr lang="en-US" altLang="en-US" sz="1800"/>
              <a:t>User authentication system</a:t>
            </a:r>
          </a:p>
          <a:p>
            <a:endParaRPr lang="en-US" altLang="en-US" sz="1800"/>
          </a:p>
          <a:p>
            <a:r>
              <a:rPr lang="en-US" altLang="en-US" sz="1800"/>
              <a:t>Encryption of files</a:t>
            </a:r>
          </a:p>
          <a:p>
            <a:endParaRPr lang="en-US" altLang="en-US" sz="1800"/>
          </a:p>
          <a:p>
            <a:r>
              <a:rPr lang="en-US" altLang="en-US" sz="1800"/>
              <a:t>Graphical User Interface (GUI)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2580" y="294005"/>
            <a:ext cx="10515600" cy="838200"/>
          </a:xfrm>
        </p:spPr>
        <p:txBody>
          <a:bodyPr/>
          <a:lstStyle/>
          <a:p>
            <a:r>
              <a:rPr lang="en-US"/>
              <a:t>                     </a:t>
            </a:r>
            <a:r>
              <a:rPr lang="en-US" b="1"/>
              <a:t>7.</a:t>
            </a:r>
            <a:r>
              <a:rPr lang="en-US" altLang="en-US" b="1"/>
              <a:t>System Requirements</a:t>
            </a:r>
          </a:p>
        </p:txBody>
      </p:sp>
      <p:sp>
        <p:nvSpPr>
          <p:cNvPr id="3" name="Content Placeholder 2"/>
          <p:cNvSpPr>
            <a:spLocks noGrp="1"/>
          </p:cNvSpPr>
          <p:nvPr>
            <p:ph idx="1"/>
          </p:nvPr>
        </p:nvSpPr>
        <p:spPr>
          <a:xfrm>
            <a:off x="811530" y="1075055"/>
            <a:ext cx="10542270" cy="5698490"/>
          </a:xfrm>
        </p:spPr>
        <p:txBody>
          <a:bodyPr>
            <a:noAutofit/>
          </a:bodyPr>
          <a:lstStyle/>
          <a:p>
            <a:pPr marL="0" indent="0">
              <a:buNone/>
            </a:pPr>
            <a:endParaRPr lang="en-US" altLang="en-US" sz="1700"/>
          </a:p>
          <a:p>
            <a:pPr marL="0" indent="0">
              <a:buNone/>
            </a:pPr>
            <a:r>
              <a:rPr lang="en-US" altLang="en-US" sz="2000"/>
              <a:t>  7.1 </a:t>
            </a:r>
            <a:r>
              <a:rPr lang="en-US" altLang="en-US" sz="2000" b="1"/>
              <a:t>Hardware Requirement.</a:t>
            </a:r>
            <a:endParaRPr lang="en-US" altLang="en-US" sz="2000"/>
          </a:p>
          <a:p>
            <a:pPr marL="0" indent="0">
              <a:buNone/>
            </a:pPr>
            <a:r>
              <a:rPr lang="en-US" altLang="en-US" sz="2000"/>
              <a:t>Processor: Intel i3 or above</a:t>
            </a:r>
          </a:p>
          <a:p>
            <a:pPr marL="0" indent="0">
              <a:buNone/>
            </a:pPr>
            <a:r>
              <a:rPr lang="en-US" altLang="en-US" sz="2000"/>
              <a:t>RAM: Minimum 4 GB</a:t>
            </a:r>
          </a:p>
          <a:p>
            <a:pPr marL="0" indent="0">
              <a:buNone/>
            </a:pPr>
            <a:r>
              <a:rPr lang="en-US" altLang="en-US" sz="2000"/>
              <a:t>Storage: Minimum 10 GB free space.</a:t>
            </a:r>
          </a:p>
          <a:p>
            <a:pPr marL="0" indent="0">
              <a:buNone/>
            </a:pPr>
            <a:r>
              <a:rPr lang="en-US" altLang="en-US" sz="2000"/>
              <a:t> </a:t>
            </a:r>
            <a:r>
              <a:rPr lang="en-US" altLang="en-US" sz="2000" b="1"/>
              <a:t> 7.2Software Requirements.</a:t>
            </a:r>
          </a:p>
          <a:p>
            <a:pPr marL="0" indent="0">
              <a:buNone/>
            </a:pPr>
            <a:r>
              <a:rPr lang="en-US" altLang="en-US" sz="2000"/>
              <a:t>Operating System: Windows 10 / 11</a:t>
            </a:r>
          </a:p>
          <a:p>
            <a:pPr marL="0" indent="0">
              <a:buNone/>
            </a:pPr>
            <a:r>
              <a:rPr lang="en-US" altLang="en-US" sz="2000"/>
              <a:t>Python Version: Python 3.13.2.</a:t>
            </a:r>
          </a:p>
          <a:p>
            <a:pPr marL="0" indent="0">
              <a:buNone/>
            </a:pPr>
            <a:r>
              <a:rPr lang="en-US" altLang="en-US" sz="2000" b="1"/>
              <a:t>Python Libraries:</a:t>
            </a:r>
            <a:endParaRPr lang="en-US" altLang="en-US" sz="2000"/>
          </a:p>
          <a:p>
            <a:pPr marL="0" indent="0">
              <a:buNone/>
            </a:pPr>
            <a:r>
              <a:rPr lang="en-US" altLang="en-US" sz="2000"/>
              <a:t>watchdog</a:t>
            </a:r>
          </a:p>
          <a:p>
            <a:pPr marL="0" indent="0">
              <a:buNone/>
            </a:pPr>
            <a:r>
              <a:rPr lang="en-US" altLang="en-US" sz="2000"/>
              <a:t>hashlib</a:t>
            </a:r>
          </a:p>
          <a:p>
            <a:pPr marL="0" indent="0">
              <a:buNone/>
            </a:pPr>
            <a:r>
              <a:rPr lang="en-US" altLang="en-US" sz="2000"/>
              <a:t>logging</a:t>
            </a:r>
          </a:p>
          <a:p>
            <a:pPr marL="0" indent="0">
              <a:buNone/>
            </a:pPr>
            <a:r>
              <a:rPr lang="en-US" altLang="en-US" sz="2000"/>
              <a:t>time</a:t>
            </a:r>
          </a:p>
          <a:p>
            <a:pPr marL="0" indent="0">
              <a:buNone/>
            </a:pPr>
            <a:endParaRPr lang="en-US" altLang="en-US" sz="1800"/>
          </a:p>
          <a:p>
            <a:pPr marL="0" indent="0">
              <a:buNone/>
            </a:pPr>
            <a:endParaRPr lang="en-US" altLang="en-US" sz="1800"/>
          </a:p>
        </p:txBody>
      </p:sp>
      <p:sp>
        <p:nvSpPr>
          <p:cNvPr id="5" name="Text Box 4"/>
          <p:cNvSpPr txBox="1"/>
          <p:nvPr/>
        </p:nvSpPr>
        <p:spPr>
          <a:xfrm>
            <a:off x="2012315" y="1849120"/>
            <a:ext cx="7026275" cy="795655"/>
          </a:xfrm>
          <a:prstGeom prst="rect">
            <a:avLst/>
          </a:prstGeom>
          <a:noFill/>
        </p:spPr>
        <p:txBody>
          <a:bodyPr wrap="square" rtlCol="0">
            <a:noAutofit/>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175385"/>
          </a:xfrm>
        </p:spPr>
        <p:txBody>
          <a:bodyPr/>
          <a:lstStyle/>
          <a:p>
            <a:r>
              <a:rPr lang="en-US"/>
              <a:t>                       </a:t>
            </a:r>
            <a:r>
              <a:rPr lang="en-US" b="1"/>
              <a:t>8.</a:t>
            </a:r>
            <a:r>
              <a:rPr lang="en-US" altLang="en-US" b="1"/>
              <a:t>Technology Used</a:t>
            </a:r>
          </a:p>
        </p:txBody>
      </p:sp>
      <p:sp>
        <p:nvSpPr>
          <p:cNvPr id="3" name="Content Placeholder 2"/>
          <p:cNvSpPr>
            <a:spLocks noGrp="1"/>
          </p:cNvSpPr>
          <p:nvPr>
            <p:ph idx="1"/>
          </p:nvPr>
        </p:nvSpPr>
        <p:spPr>
          <a:xfrm>
            <a:off x="0" y="1175385"/>
            <a:ext cx="11138535" cy="5373370"/>
          </a:xfrm>
        </p:spPr>
        <p:txBody>
          <a:bodyPr/>
          <a:lstStyle/>
          <a:p>
            <a:endParaRPr lang="en-US"/>
          </a:p>
        </p:txBody>
      </p:sp>
      <p:graphicFrame>
        <p:nvGraphicFramePr>
          <p:cNvPr id="4" name="Table 3"/>
          <p:cNvGraphicFramePr/>
          <p:nvPr>
            <p:custDataLst>
              <p:tags r:id="rId1"/>
            </p:custDataLst>
          </p:nvPr>
        </p:nvGraphicFramePr>
        <p:xfrm>
          <a:off x="850900" y="1841500"/>
          <a:ext cx="10477500" cy="4191000"/>
        </p:xfrm>
        <a:graphic>
          <a:graphicData uri="http://schemas.openxmlformats.org/drawingml/2006/table">
            <a:tbl>
              <a:tblPr/>
              <a:tblGrid>
                <a:gridCol w="3457575">
                  <a:extLst>
                    <a:ext uri="{9D8B030D-6E8A-4147-A177-3AD203B41FA5}">
                      <a16:colId xmlns:a16="http://schemas.microsoft.com/office/drawing/2014/main" val="20000"/>
                    </a:ext>
                  </a:extLst>
                </a:gridCol>
                <a:gridCol w="7019925">
                  <a:extLst>
                    <a:ext uri="{9D8B030D-6E8A-4147-A177-3AD203B41FA5}">
                      <a16:colId xmlns:a16="http://schemas.microsoft.com/office/drawing/2014/main" val="20001"/>
                    </a:ext>
                  </a:extLst>
                </a:gridCol>
              </a:tblGrid>
              <a:tr h="735330">
                <a:tc>
                  <a:txBody>
                    <a:bodyPr/>
                    <a:lstStyle/>
                    <a:p>
                      <a:pPr algn="ctr">
                        <a:lnSpc>
                          <a:spcPct val="120000"/>
                        </a:lnSpc>
                        <a:spcBef>
                          <a:spcPts val="0"/>
                        </a:spcBef>
                        <a:spcAft>
                          <a:spcPts val="0"/>
                        </a:spcAft>
                      </a:pPr>
                      <a:r>
                        <a:rPr lang="en-US" sz="1900" spc="130">
                          <a:latin typeface="Microsoft YaHei" panose="020B0503020204020204" charset="-122"/>
                          <a:ea typeface="Microsoft YaHei" panose="020B0503020204020204" charset="-122"/>
                        </a:rPr>
                        <a:t>Technology</a:t>
                      </a:r>
                    </a:p>
                  </a:txBody>
                  <a:tcPr marL="215900" marR="215900" marT="133350" marB="133350" anchor="ctr">
                    <a:lnL>
                      <a:noFill/>
                    </a:lnL>
                    <a:lnR>
                      <a:noFill/>
                    </a:lnR>
                    <a:lnT>
                      <a:noFill/>
                    </a:lnT>
                    <a:lnB>
                      <a:noFill/>
                    </a:lnB>
                    <a:noFill/>
                  </a:tcPr>
                </a:tc>
                <a:tc>
                  <a:txBody>
                    <a:bodyPr/>
                    <a:lstStyle/>
                    <a:p>
                      <a:pPr algn="ctr">
                        <a:lnSpc>
                          <a:spcPct val="120000"/>
                        </a:lnSpc>
                        <a:spcBef>
                          <a:spcPts val="0"/>
                        </a:spcBef>
                        <a:spcAft>
                          <a:spcPts val="0"/>
                        </a:spcAft>
                      </a:pPr>
                      <a:r>
                        <a:rPr lang="en-US" sz="1900" spc="130">
                          <a:latin typeface="Microsoft YaHei" panose="020B0503020204020204" charset="-122"/>
                          <a:ea typeface="Microsoft YaHei" panose="020B0503020204020204" charset="-122"/>
                        </a:rPr>
                        <a:t>Purpose</a:t>
                      </a:r>
                    </a:p>
                  </a:txBody>
                  <a:tcPr marL="215900" marR="215900" marT="133350" marB="133350" anchor="ctr">
                    <a:lnL>
                      <a:noFill/>
                    </a:lnL>
                    <a:lnR>
                      <a:noFill/>
                    </a:lnR>
                    <a:lnT>
                      <a:noFill/>
                    </a:lnT>
                    <a:lnB>
                      <a:noFill/>
                    </a:lnB>
                    <a:noFill/>
                  </a:tcPr>
                </a:tc>
                <a:extLst>
                  <a:ext uri="{0D108BD9-81ED-4DB2-BD59-A6C34878D82A}">
                    <a16:rowId xmlns:a16="http://schemas.microsoft.com/office/drawing/2014/main" val="10000"/>
                  </a:ext>
                </a:extLst>
              </a:tr>
              <a:tr h="691515">
                <a:tc>
                  <a:txBody>
                    <a:bodyPr/>
                    <a:lstStyle/>
                    <a:p>
                      <a:pPr algn="ctr">
                        <a:lnSpc>
                          <a:spcPct val="120000"/>
                        </a:lnSpc>
                        <a:spcBef>
                          <a:spcPts val="0"/>
                        </a:spcBef>
                        <a:spcAft>
                          <a:spcPts val="0"/>
                        </a:spcAft>
                      </a:pPr>
                      <a:r>
                        <a:rPr lang="en-US" sz="1700" spc="130">
                          <a:latin typeface="Microsoft YaHei" panose="020B0503020204020204" charset="-122"/>
                          <a:ea typeface="Microsoft YaHei" panose="020B0503020204020204" charset="-122"/>
                        </a:rPr>
                        <a:t>Python</a:t>
                      </a:r>
                    </a:p>
                  </a:txBody>
                  <a:tcPr marL="215900" marR="215900" marT="133350" marB="133350" anchor="ctr">
                    <a:lnL>
                      <a:noFill/>
                    </a:lnL>
                    <a:lnR>
                      <a:noFill/>
                    </a:lnR>
                    <a:lnT>
                      <a:noFill/>
                    </a:lnT>
                    <a:lnB>
                      <a:noFill/>
                    </a:lnB>
                    <a:noFill/>
                  </a:tcPr>
                </a:tc>
                <a:tc>
                  <a:txBody>
                    <a:bodyPr/>
                    <a:lstStyle/>
                    <a:p>
                      <a:pPr algn="ctr">
                        <a:lnSpc>
                          <a:spcPct val="120000"/>
                        </a:lnSpc>
                        <a:spcBef>
                          <a:spcPts val="0"/>
                        </a:spcBef>
                        <a:spcAft>
                          <a:spcPts val="0"/>
                        </a:spcAft>
                      </a:pPr>
                      <a:r>
                        <a:rPr sz="1700" spc="130">
                          <a:latin typeface="Microsoft YaHei" panose="020B0503020204020204" charset="-122"/>
                          <a:ea typeface="Microsoft YaHei" panose="020B0503020204020204" charset="-122"/>
                        </a:rPr>
                        <a:t>Core programming language</a:t>
                      </a:r>
                    </a:p>
                  </a:txBody>
                  <a:tcPr marL="215900" marR="215900" marT="133350" marB="133350" anchor="ctr">
                    <a:lnL>
                      <a:noFill/>
                    </a:lnL>
                    <a:lnR>
                      <a:noFill/>
                    </a:lnR>
                    <a:lnT>
                      <a:noFill/>
                    </a:lnT>
                    <a:lnB>
                      <a:noFill/>
                    </a:lnB>
                    <a:noFill/>
                  </a:tcPr>
                </a:tc>
                <a:extLst>
                  <a:ext uri="{0D108BD9-81ED-4DB2-BD59-A6C34878D82A}">
                    <a16:rowId xmlns:a16="http://schemas.microsoft.com/office/drawing/2014/main" val="10001"/>
                  </a:ext>
                </a:extLst>
              </a:tr>
              <a:tr h="690245">
                <a:tc>
                  <a:txBody>
                    <a:bodyPr/>
                    <a:lstStyle/>
                    <a:p>
                      <a:pPr algn="ctr">
                        <a:lnSpc>
                          <a:spcPct val="120000"/>
                        </a:lnSpc>
                        <a:spcBef>
                          <a:spcPts val="0"/>
                        </a:spcBef>
                        <a:spcAft>
                          <a:spcPts val="0"/>
                        </a:spcAft>
                      </a:pPr>
                      <a:r>
                        <a:rPr sz="1700" spc="130" dirty="0">
                          <a:latin typeface="Microsoft YaHei" panose="020B0503020204020204" charset="-122"/>
                          <a:ea typeface="Microsoft YaHei" panose="020B0503020204020204" charset="-122"/>
                        </a:rPr>
                        <a:t>Watchdog</a:t>
                      </a:r>
                    </a:p>
                  </a:txBody>
                  <a:tcPr marL="215900" marR="215900" marT="133350" marB="133350" anchor="ctr">
                    <a:lnL>
                      <a:noFill/>
                    </a:lnL>
                    <a:lnR>
                      <a:noFill/>
                    </a:lnR>
                    <a:lnT>
                      <a:noFill/>
                    </a:lnT>
                    <a:lnB>
                      <a:noFill/>
                    </a:lnB>
                    <a:noFill/>
                  </a:tcPr>
                </a:tc>
                <a:tc>
                  <a:txBody>
                    <a:bodyPr/>
                    <a:lstStyle/>
                    <a:p>
                      <a:pPr algn="ctr">
                        <a:lnSpc>
                          <a:spcPct val="120000"/>
                        </a:lnSpc>
                        <a:spcBef>
                          <a:spcPts val="0"/>
                        </a:spcBef>
                        <a:spcAft>
                          <a:spcPts val="0"/>
                        </a:spcAft>
                      </a:pPr>
                      <a:r>
                        <a:rPr sz="1700" spc="130">
                          <a:latin typeface="Microsoft YaHei" panose="020B0503020204020204" charset="-122"/>
                          <a:ea typeface="Microsoft YaHei" panose="020B0503020204020204" charset="-122"/>
                        </a:rPr>
                        <a:t>File system monitoring</a:t>
                      </a:r>
                    </a:p>
                  </a:txBody>
                  <a:tcPr marL="215900" marR="215900" marT="133350" marB="133350" anchor="ctr">
                    <a:lnL>
                      <a:noFill/>
                    </a:lnL>
                    <a:lnR>
                      <a:noFill/>
                    </a:lnR>
                    <a:lnT>
                      <a:noFill/>
                    </a:lnT>
                    <a:lnB>
                      <a:noFill/>
                    </a:lnB>
                    <a:noFill/>
                  </a:tcPr>
                </a:tc>
                <a:extLst>
                  <a:ext uri="{0D108BD9-81ED-4DB2-BD59-A6C34878D82A}">
                    <a16:rowId xmlns:a16="http://schemas.microsoft.com/office/drawing/2014/main" val="10002"/>
                  </a:ext>
                </a:extLst>
              </a:tr>
              <a:tr h="691515">
                <a:tc>
                  <a:txBody>
                    <a:bodyPr/>
                    <a:lstStyle/>
                    <a:p>
                      <a:pPr algn="ctr">
                        <a:lnSpc>
                          <a:spcPct val="120000"/>
                        </a:lnSpc>
                        <a:spcBef>
                          <a:spcPts val="0"/>
                        </a:spcBef>
                        <a:spcAft>
                          <a:spcPts val="0"/>
                        </a:spcAft>
                      </a:pPr>
                      <a:r>
                        <a:rPr sz="1700" spc="130">
                          <a:latin typeface="Microsoft YaHei" panose="020B0503020204020204" charset="-122"/>
                          <a:ea typeface="Microsoft YaHei" panose="020B0503020204020204" charset="-122"/>
                        </a:rPr>
                        <a:t>Hashlib</a:t>
                      </a:r>
                    </a:p>
                  </a:txBody>
                  <a:tcPr marL="215900" marR="215900" marT="133350" marB="133350" anchor="ctr">
                    <a:lnL>
                      <a:noFill/>
                    </a:lnL>
                    <a:lnR>
                      <a:noFill/>
                    </a:lnR>
                    <a:lnT>
                      <a:noFill/>
                    </a:lnT>
                    <a:lnB>
                      <a:noFill/>
                    </a:lnB>
                    <a:noFill/>
                  </a:tcPr>
                </a:tc>
                <a:tc>
                  <a:txBody>
                    <a:bodyPr/>
                    <a:lstStyle/>
                    <a:p>
                      <a:pPr algn="ctr">
                        <a:lnSpc>
                          <a:spcPct val="120000"/>
                        </a:lnSpc>
                        <a:spcBef>
                          <a:spcPts val="0"/>
                        </a:spcBef>
                        <a:spcAft>
                          <a:spcPts val="0"/>
                        </a:spcAft>
                      </a:pPr>
                      <a:r>
                        <a:rPr sz="1700" spc="130">
                          <a:latin typeface="Microsoft YaHei" panose="020B0503020204020204" charset="-122"/>
                          <a:ea typeface="Microsoft YaHei" panose="020B0503020204020204" charset="-122"/>
                        </a:rPr>
                        <a:t>File integrity hashing</a:t>
                      </a:r>
                    </a:p>
                  </a:txBody>
                  <a:tcPr marL="215900" marR="215900" marT="133350" marB="133350" anchor="ctr">
                    <a:lnL>
                      <a:noFill/>
                    </a:lnL>
                    <a:lnR>
                      <a:noFill/>
                    </a:lnR>
                    <a:lnT>
                      <a:noFill/>
                    </a:lnT>
                    <a:lnB>
                      <a:noFill/>
                    </a:lnB>
                    <a:noFill/>
                  </a:tcPr>
                </a:tc>
                <a:extLst>
                  <a:ext uri="{0D108BD9-81ED-4DB2-BD59-A6C34878D82A}">
                    <a16:rowId xmlns:a16="http://schemas.microsoft.com/office/drawing/2014/main" val="10003"/>
                  </a:ext>
                </a:extLst>
              </a:tr>
              <a:tr h="690880">
                <a:tc>
                  <a:txBody>
                    <a:bodyPr/>
                    <a:lstStyle/>
                    <a:p>
                      <a:pPr algn="ctr">
                        <a:lnSpc>
                          <a:spcPct val="120000"/>
                        </a:lnSpc>
                        <a:spcBef>
                          <a:spcPts val="0"/>
                        </a:spcBef>
                        <a:spcAft>
                          <a:spcPts val="0"/>
                        </a:spcAft>
                      </a:pPr>
                      <a:r>
                        <a:rPr sz="1700" spc="130">
                          <a:latin typeface="Microsoft YaHei" panose="020B0503020204020204" charset="-122"/>
                          <a:ea typeface="Microsoft YaHei" panose="020B0503020204020204" charset="-122"/>
                        </a:rPr>
                        <a:t>Logging</a:t>
                      </a:r>
                    </a:p>
                  </a:txBody>
                  <a:tcPr marL="215900" marR="215900" marT="133350" marB="133350" anchor="ctr">
                    <a:lnL>
                      <a:noFill/>
                    </a:lnL>
                    <a:lnR>
                      <a:noFill/>
                    </a:lnR>
                    <a:lnT>
                      <a:noFill/>
                    </a:lnT>
                    <a:lnB>
                      <a:noFill/>
                    </a:lnB>
                    <a:noFill/>
                  </a:tcPr>
                </a:tc>
                <a:tc>
                  <a:txBody>
                    <a:bodyPr/>
                    <a:lstStyle/>
                    <a:p>
                      <a:pPr algn="ctr">
                        <a:lnSpc>
                          <a:spcPct val="120000"/>
                        </a:lnSpc>
                        <a:spcBef>
                          <a:spcPts val="0"/>
                        </a:spcBef>
                        <a:spcAft>
                          <a:spcPts val="0"/>
                        </a:spcAft>
                      </a:pPr>
                      <a:r>
                        <a:rPr sz="1700" spc="130">
                          <a:latin typeface="Microsoft YaHei" panose="020B0503020204020204" charset="-122"/>
                          <a:ea typeface="Microsoft YaHei" panose="020B0503020204020204" charset="-122"/>
                        </a:rPr>
                        <a:t>Event logging</a:t>
                      </a:r>
                    </a:p>
                  </a:txBody>
                  <a:tcPr marL="215900" marR="215900" marT="133350" marB="133350" anchor="ctr">
                    <a:lnL>
                      <a:noFill/>
                    </a:lnL>
                    <a:lnR>
                      <a:noFill/>
                    </a:lnR>
                    <a:lnT>
                      <a:noFill/>
                    </a:lnT>
                    <a:lnB>
                      <a:noFill/>
                    </a:lnB>
                    <a:noFill/>
                  </a:tcPr>
                </a:tc>
                <a:extLst>
                  <a:ext uri="{0D108BD9-81ED-4DB2-BD59-A6C34878D82A}">
                    <a16:rowId xmlns:a16="http://schemas.microsoft.com/office/drawing/2014/main" val="10004"/>
                  </a:ext>
                </a:extLst>
              </a:tr>
              <a:tr h="691515">
                <a:tc>
                  <a:txBody>
                    <a:bodyPr/>
                    <a:lstStyle/>
                    <a:p>
                      <a:pPr algn="ctr">
                        <a:lnSpc>
                          <a:spcPct val="120000"/>
                        </a:lnSpc>
                        <a:spcBef>
                          <a:spcPts val="0"/>
                        </a:spcBef>
                        <a:spcAft>
                          <a:spcPts val="0"/>
                        </a:spcAft>
                      </a:pPr>
                      <a:r>
                        <a:rPr sz="1700" spc="130">
                          <a:latin typeface="Microsoft YaHei" panose="020B0503020204020204" charset="-122"/>
                          <a:ea typeface="Microsoft YaHei" panose="020B0503020204020204" charset="-122"/>
                        </a:rPr>
                        <a:t>Windows OS</a:t>
                      </a:r>
                    </a:p>
                  </a:txBody>
                  <a:tcPr marL="215900" marR="215900" marT="133350" marB="133350" anchor="ctr">
                    <a:lnL>
                      <a:noFill/>
                    </a:lnL>
                    <a:lnR>
                      <a:noFill/>
                    </a:lnR>
                    <a:lnT>
                      <a:noFill/>
                    </a:lnT>
                    <a:lnB>
                      <a:noFill/>
                    </a:lnB>
                    <a:noFill/>
                  </a:tcPr>
                </a:tc>
                <a:tc>
                  <a:txBody>
                    <a:bodyPr/>
                    <a:lstStyle/>
                    <a:p>
                      <a:pPr algn="ctr">
                        <a:lnSpc>
                          <a:spcPct val="120000"/>
                        </a:lnSpc>
                        <a:spcBef>
                          <a:spcPts val="0"/>
                        </a:spcBef>
                        <a:spcAft>
                          <a:spcPts val="0"/>
                        </a:spcAft>
                      </a:pPr>
                      <a:r>
                        <a:rPr sz="1700" spc="130" dirty="0">
                          <a:latin typeface="Microsoft YaHei" panose="020B0503020204020204" charset="-122"/>
                          <a:ea typeface="Microsoft YaHei" panose="020B0503020204020204" charset="-122"/>
                        </a:rPr>
                        <a:t>Execution platform</a:t>
                      </a:r>
                    </a:p>
                  </a:txBody>
                  <a:tcPr marL="215900" marR="215900" marT="133350" marB="133350" anchor="ctr">
                    <a:lnL>
                      <a:noFill/>
                    </a:lnL>
                    <a:lnR>
                      <a:noFill/>
                    </a:lnR>
                    <a:lnT>
                      <a:noFill/>
                    </a:lnT>
                    <a:lnB>
                      <a:noFill/>
                    </a:lnB>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0015" y="330200"/>
            <a:ext cx="9083040" cy="694055"/>
          </a:xfrm>
        </p:spPr>
        <p:txBody>
          <a:bodyPr>
            <a:normAutofit fontScale="90000"/>
          </a:bodyPr>
          <a:lstStyle/>
          <a:p>
            <a:r>
              <a:rPr lang="en-US"/>
              <a:t>                      </a:t>
            </a:r>
            <a:r>
              <a:rPr lang="en-US" b="1"/>
              <a:t> 9.</a:t>
            </a:r>
            <a:r>
              <a:rPr lang="en-US" altLang="en-US" b="1"/>
              <a:t>Module Description</a:t>
            </a:r>
          </a:p>
        </p:txBody>
      </p:sp>
      <p:sp>
        <p:nvSpPr>
          <p:cNvPr id="3" name="Content Placeholder 2"/>
          <p:cNvSpPr>
            <a:spLocks noGrp="1"/>
          </p:cNvSpPr>
          <p:nvPr>
            <p:ph idx="1"/>
          </p:nvPr>
        </p:nvSpPr>
        <p:spPr>
          <a:xfrm>
            <a:off x="198120" y="1177290"/>
            <a:ext cx="11155680" cy="5681345"/>
          </a:xfrm>
        </p:spPr>
        <p:txBody>
          <a:bodyPr>
            <a:noAutofit/>
          </a:bodyPr>
          <a:lstStyle/>
          <a:p>
            <a:r>
              <a:rPr lang="en-US" altLang="en-US" sz="2000" b="1"/>
              <a:t>9.1 Directory Monitoring Module</a:t>
            </a:r>
          </a:p>
          <a:p>
            <a:endParaRPr lang="en-US" altLang="en-US" sz="2000"/>
          </a:p>
          <a:p>
            <a:r>
              <a:rPr lang="en-US" altLang="en-US" sz="2000"/>
              <a:t>Uses the watchdog Observer to monitor file system events in real time.</a:t>
            </a:r>
          </a:p>
          <a:p>
            <a:endParaRPr lang="en-US" altLang="en-US" sz="2000"/>
          </a:p>
          <a:p>
            <a:r>
              <a:rPr lang="en-US" altLang="en-US" sz="2000" b="1"/>
              <a:t>9.2 Event Handling Module</a:t>
            </a:r>
          </a:p>
          <a:p>
            <a:endParaRPr lang="en-US" altLang="en-US" sz="2000"/>
          </a:p>
          <a:p>
            <a:r>
              <a:rPr lang="en-US" altLang="en-US" sz="2000" b="1"/>
              <a:t>Handles events such as:</a:t>
            </a:r>
            <a:endParaRPr lang="en-US" altLang="en-US" sz="2000"/>
          </a:p>
          <a:p>
            <a:r>
              <a:rPr lang="en-US" altLang="en-US" sz="2000"/>
              <a:t>on_created</a:t>
            </a:r>
          </a:p>
          <a:p>
            <a:endParaRPr lang="en-US" altLang="en-US" sz="2000"/>
          </a:p>
          <a:p>
            <a:r>
              <a:rPr lang="en-US" altLang="en-US" sz="2000"/>
              <a:t>on_modified</a:t>
            </a:r>
          </a:p>
          <a:p>
            <a:endParaRPr lang="en-US" altLang="en-US" sz="2000"/>
          </a:p>
          <a:p>
            <a:r>
              <a:rPr lang="en-US" altLang="en-US" sz="2000"/>
              <a:t>on_deleted</a:t>
            </a:r>
          </a:p>
          <a:p>
            <a:endParaRPr lang="en-US" altLang="en-US" sz="2000"/>
          </a:p>
          <a:p>
            <a:r>
              <a:rPr lang="en-US" altLang="en-US" sz="2000"/>
              <a:t>on_moved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 y="918845"/>
            <a:ext cx="11155680" cy="5258435"/>
          </a:xfrm>
        </p:spPr>
        <p:txBody>
          <a:bodyPr>
            <a:normAutofit/>
          </a:bodyPr>
          <a:lstStyle/>
          <a:p>
            <a:pPr marL="0" indent="0">
              <a:buNone/>
            </a:pPr>
            <a:r>
              <a:rPr lang="en-US" altLang="en-US" sz="2000" b="1"/>
              <a:t>9.3 Hashing Module</a:t>
            </a:r>
            <a:endParaRPr lang="en-US" altLang="en-US" sz="2000"/>
          </a:p>
          <a:p>
            <a:endParaRPr lang="en-US" altLang="en-US" sz="2000"/>
          </a:p>
          <a:p>
            <a:r>
              <a:rPr lang="en-US" altLang="en-US" sz="2000"/>
              <a:t>Generates SHA-256 hash values for files to detect content changes.</a:t>
            </a:r>
          </a:p>
          <a:p>
            <a:endParaRPr lang="en-US" altLang="en-US" sz="2000"/>
          </a:p>
          <a:p>
            <a:pPr marL="0" indent="0">
              <a:buNone/>
            </a:pPr>
            <a:r>
              <a:rPr lang="en-US" altLang="en-US" sz="2000" b="1"/>
              <a:t>9.4 Logging Modul</a:t>
            </a:r>
            <a:r>
              <a:rPr lang="en-US" altLang="en-US" sz="2000"/>
              <a:t>e</a:t>
            </a:r>
          </a:p>
          <a:p>
            <a:endParaRPr lang="en-US" altLang="en-US" sz="2000"/>
          </a:p>
          <a:p>
            <a:r>
              <a:rPr lang="en-US" altLang="en-US" sz="2000"/>
              <a:t>Stores all activities in a log file for future auditing.</a:t>
            </a:r>
          </a:p>
          <a:p>
            <a:endParaRPr lang="en-US" altLang="en-US" sz="2000"/>
          </a:p>
          <a:p>
            <a:pPr marL="0" indent="0">
              <a:buNone/>
            </a:pPr>
            <a:r>
              <a:rPr lang="en-US" altLang="en-US" sz="2000" b="1"/>
              <a:t>9.5 Sensitive File Detection Module</a:t>
            </a:r>
          </a:p>
          <a:p>
            <a:endParaRPr lang="en-US" altLang="en-US" sz="2000"/>
          </a:p>
          <a:p>
            <a:r>
              <a:rPr lang="en-US" altLang="en-US" sz="2000"/>
              <a:t>Identifies file activities occurring inside sensitive directories and raises alerts.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0180"/>
            <a:ext cx="10515600" cy="934720"/>
          </a:xfrm>
        </p:spPr>
        <p:txBody>
          <a:bodyPr/>
          <a:lstStyle/>
          <a:p>
            <a:r>
              <a:rPr lang="en-US" altLang="en-US"/>
              <a:t>              </a:t>
            </a:r>
            <a:r>
              <a:rPr lang="en-US" altLang="en-US" b="1"/>
              <a:t>    10. Working of the System</a:t>
            </a:r>
          </a:p>
        </p:txBody>
      </p:sp>
      <p:sp>
        <p:nvSpPr>
          <p:cNvPr id="3" name="Content Placeholder 2"/>
          <p:cNvSpPr>
            <a:spLocks noGrp="1"/>
          </p:cNvSpPr>
          <p:nvPr>
            <p:ph idx="1"/>
          </p:nvPr>
        </p:nvSpPr>
        <p:spPr>
          <a:xfrm>
            <a:off x="170815" y="1104265"/>
            <a:ext cx="11609705" cy="5754370"/>
          </a:xfrm>
        </p:spPr>
        <p:txBody>
          <a:bodyPr>
            <a:noAutofit/>
          </a:bodyPr>
          <a:lstStyle/>
          <a:p>
            <a:r>
              <a:rPr lang="en-US" altLang="en-US" sz="2000"/>
              <a:t>User defines a directory to monitor</a:t>
            </a:r>
          </a:p>
          <a:p>
            <a:r>
              <a:rPr lang="en-US" altLang="en-US" sz="2000"/>
              <a:t>The Observer starts monitoring the directory</a:t>
            </a:r>
          </a:p>
          <a:p>
            <a:r>
              <a:rPr lang="en-US" altLang="en-US" sz="2000"/>
              <a:t>When a file event occurs:</a:t>
            </a:r>
          </a:p>
          <a:p>
            <a:r>
              <a:rPr lang="en-US" altLang="en-US" sz="2000"/>
              <a:t>Event handler captures the event</a:t>
            </a:r>
          </a:p>
          <a:p>
            <a:r>
              <a:rPr lang="en-US" altLang="en-US" sz="2000"/>
              <a:t>Hash is generated (if applicable)</a:t>
            </a:r>
          </a:p>
          <a:p>
            <a:r>
              <a:rPr lang="en-US" altLang="en-US" sz="2000"/>
              <a:t>Event is logged</a:t>
            </a:r>
          </a:p>
          <a:p>
            <a:r>
              <a:rPr lang="en-US" altLang="en-US" sz="2000"/>
              <a:t>Alert is generated for sensitive files</a:t>
            </a:r>
          </a:p>
          <a:p>
            <a:r>
              <a:rPr lang="en-US" altLang="en-US" sz="2000"/>
              <a:t>The system runs continuously until stopped by the us</a:t>
            </a:r>
            <a:r>
              <a:rPr lang="en-US" altLang="en-US" sz="1700"/>
              <a:t>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2400"/>
            <a:ext cx="10515600" cy="1058545"/>
          </a:xfrm>
        </p:spPr>
        <p:txBody>
          <a:bodyPr/>
          <a:lstStyle/>
          <a:p>
            <a:r>
              <a:rPr lang="en-US"/>
              <a:t>     </a:t>
            </a:r>
            <a:r>
              <a:rPr lang="en-US" b="1"/>
              <a:t>11.</a:t>
            </a:r>
            <a:r>
              <a:rPr lang="en-US" altLang="en-US" b="1"/>
              <a:t>Program Code (Main Logic Overview)</a:t>
            </a:r>
          </a:p>
        </p:txBody>
      </p:sp>
      <p:sp>
        <p:nvSpPr>
          <p:cNvPr id="3" name="Content Placeholder 2"/>
          <p:cNvSpPr>
            <a:spLocks noGrp="1"/>
          </p:cNvSpPr>
          <p:nvPr>
            <p:ph idx="1"/>
          </p:nvPr>
        </p:nvSpPr>
        <p:spPr>
          <a:xfrm>
            <a:off x="492125" y="1210945"/>
            <a:ext cx="10861675" cy="4966335"/>
          </a:xfrm>
        </p:spPr>
        <p:txBody>
          <a:bodyPr/>
          <a:lstStyle/>
          <a:p>
            <a:r>
              <a:rPr lang="en-US" altLang="en-US" sz="2000"/>
              <a:t>Observer() watches the directory</a:t>
            </a:r>
          </a:p>
          <a:p>
            <a:endParaRPr lang="en-US" altLang="en-US" sz="2000"/>
          </a:p>
          <a:p>
            <a:r>
              <a:rPr lang="en-US" altLang="en-US" sz="2000"/>
              <a:t>FileSystemEventHandler handles file events</a:t>
            </a:r>
          </a:p>
          <a:p>
            <a:endParaRPr lang="en-US" altLang="en-US" sz="2000"/>
          </a:p>
          <a:p>
            <a:r>
              <a:rPr lang="en-US" altLang="en-US" sz="2000"/>
              <a:t>SHA-256 hash ensures file integrity</a:t>
            </a:r>
          </a:p>
          <a:p>
            <a:endParaRPr lang="en-US" altLang="en-US" sz="2000"/>
          </a:p>
          <a:p>
            <a:r>
              <a:rPr lang="en-US" altLang="en-US" sz="2000"/>
              <a:t>Logging records all actions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2670" y="374015"/>
            <a:ext cx="10515600" cy="838200"/>
          </a:xfrm>
        </p:spPr>
        <p:txBody>
          <a:bodyPr/>
          <a:lstStyle/>
          <a:p>
            <a:r>
              <a:rPr lang="en-US"/>
              <a:t>                 </a:t>
            </a:r>
            <a:r>
              <a:rPr lang="en-US" b="1"/>
              <a:t> 12.</a:t>
            </a:r>
            <a:r>
              <a:rPr lang="en-US" altLang="en-US" b="1"/>
              <a:t>Sample Output</a:t>
            </a:r>
          </a:p>
        </p:txBody>
      </p:sp>
      <p:pic>
        <p:nvPicPr>
          <p:cNvPr id="6" name="Content Placeholder 5" descr="Screenshot 2026-01-16 223129"/>
          <p:cNvPicPr>
            <a:picLocks noGrp="1" noChangeAspect="1"/>
          </p:cNvPicPr>
          <p:nvPr>
            <p:ph idx="1"/>
          </p:nvPr>
        </p:nvPicPr>
        <p:blipFill>
          <a:blip r:embed="rId2"/>
          <a:stretch>
            <a:fillRect/>
          </a:stretch>
        </p:blipFill>
        <p:spPr>
          <a:xfrm>
            <a:off x="1043305" y="1212215"/>
            <a:ext cx="10052050" cy="514223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1705" y="365125"/>
            <a:ext cx="10412095" cy="829310"/>
          </a:xfrm>
        </p:spPr>
        <p:txBody>
          <a:bodyPr>
            <a:normAutofit/>
          </a:bodyPr>
          <a:lstStyle/>
          <a:p>
            <a:r>
              <a:rPr lang="en-US" sz="2800" b="1"/>
              <a:t>                                    12.1 Result/Sample Output.</a:t>
            </a:r>
          </a:p>
        </p:txBody>
      </p:sp>
      <p:pic>
        <p:nvPicPr>
          <p:cNvPr id="8" name="Content Placeholder 7" descr="Screenshot 2026-01-16 222832"/>
          <p:cNvPicPr>
            <a:picLocks noGrp="1" noChangeAspect="1"/>
          </p:cNvPicPr>
          <p:nvPr>
            <p:ph idx="1"/>
          </p:nvPr>
        </p:nvPicPr>
        <p:blipFill>
          <a:blip r:embed="rId2"/>
          <a:srcRect l="7914" t="1274"/>
          <a:stretch>
            <a:fillRect/>
          </a:stretch>
        </p:blipFill>
        <p:spPr>
          <a:xfrm>
            <a:off x="1569085" y="1263650"/>
            <a:ext cx="8756015" cy="53625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0440"/>
          </a:xfrm>
        </p:spPr>
        <p:txBody>
          <a:bodyPr/>
          <a:lstStyle/>
          <a:p>
            <a:r>
              <a:rPr lang="en-US" altLang="en-US">
                <a:sym typeface="+mn-ea"/>
              </a:rPr>
              <a:t>                  </a:t>
            </a:r>
            <a:r>
              <a:rPr lang="en-US" altLang="en-US" b="1">
                <a:sym typeface="+mn-ea"/>
              </a:rPr>
              <a:t>13. Advantages of the System</a:t>
            </a:r>
            <a:endParaRPr lang="en-US" b="1"/>
          </a:p>
        </p:txBody>
      </p:sp>
      <p:sp>
        <p:nvSpPr>
          <p:cNvPr id="3" name="Content Placeholder 2"/>
          <p:cNvSpPr>
            <a:spLocks noGrp="1"/>
          </p:cNvSpPr>
          <p:nvPr>
            <p:ph idx="1"/>
          </p:nvPr>
        </p:nvSpPr>
        <p:spPr>
          <a:xfrm>
            <a:off x="473075" y="1345565"/>
            <a:ext cx="10880725" cy="4831715"/>
          </a:xfrm>
        </p:spPr>
        <p:txBody>
          <a:bodyPr>
            <a:normAutofit fontScale="87500" lnSpcReduction="10000"/>
          </a:bodyPr>
          <a:lstStyle/>
          <a:p>
            <a:pPr marL="0" indent="0">
              <a:buNone/>
            </a:pPr>
            <a:endParaRPr lang="en-US" altLang="en-US"/>
          </a:p>
          <a:p>
            <a:endParaRPr lang="en-US" altLang="en-US"/>
          </a:p>
          <a:p>
            <a:r>
              <a:rPr lang="en-US" altLang="en-US" sz="2500"/>
              <a:t>Real-time monitoring</a:t>
            </a:r>
          </a:p>
          <a:p>
            <a:endParaRPr lang="en-US" altLang="en-US" sz="2500"/>
          </a:p>
          <a:p>
            <a:r>
              <a:rPr lang="en-US" altLang="en-US" sz="2500"/>
              <a:t>Improves data security</a:t>
            </a:r>
          </a:p>
          <a:p>
            <a:endParaRPr lang="en-US" altLang="en-US" sz="2500"/>
          </a:p>
          <a:p>
            <a:r>
              <a:rPr lang="en-US" altLang="en-US" sz="2500"/>
              <a:t>Detects unauthorized file movement</a:t>
            </a:r>
          </a:p>
          <a:p>
            <a:endParaRPr lang="en-US" altLang="en-US" sz="2500"/>
          </a:p>
          <a:p>
            <a:r>
              <a:rPr lang="en-US" altLang="en-US" sz="2500"/>
              <a:t>Maintains audit logs</a:t>
            </a:r>
          </a:p>
          <a:p>
            <a:endParaRPr lang="en-US" altLang="en-US" sz="2500"/>
          </a:p>
          <a:p>
            <a:r>
              <a:rPr lang="en-US" altLang="en-US" sz="2500"/>
              <a:t>Easy to implement and us</a:t>
            </a:r>
            <a:r>
              <a:rPr lang="en-US" altLang="en-US"/>
              <a:t>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r>
              <a:rPr lang="en-US" b="1"/>
              <a:t> 14.</a:t>
            </a:r>
            <a:r>
              <a:rPr lang="en-US" altLang="en-US" b="1"/>
              <a:t>Limitations</a:t>
            </a:r>
          </a:p>
        </p:txBody>
      </p:sp>
      <p:sp>
        <p:nvSpPr>
          <p:cNvPr id="3" name="Content Placeholder 2"/>
          <p:cNvSpPr>
            <a:spLocks noGrp="1"/>
          </p:cNvSpPr>
          <p:nvPr>
            <p:ph idx="1"/>
          </p:nvPr>
        </p:nvSpPr>
        <p:spPr/>
        <p:txBody>
          <a:bodyPr/>
          <a:lstStyle/>
          <a:p>
            <a:r>
              <a:rPr lang="en-US" altLang="en-US" sz="2000"/>
              <a:t>No graphical interface</a:t>
            </a:r>
          </a:p>
          <a:p>
            <a:endParaRPr lang="en-US" altLang="en-US" sz="2000"/>
          </a:p>
          <a:p>
            <a:r>
              <a:rPr lang="en-US" altLang="en-US" sz="2000"/>
              <a:t>Monitors only local directories</a:t>
            </a:r>
          </a:p>
          <a:p>
            <a:endParaRPr lang="en-US" altLang="en-US" sz="2000"/>
          </a:p>
          <a:p>
            <a:r>
              <a:rPr lang="en-US" altLang="en-US" sz="2000"/>
              <a:t>Does not block file operations, only detects them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3205"/>
            <a:ext cx="10515600" cy="899795"/>
          </a:xfrm>
        </p:spPr>
        <p:txBody>
          <a:bodyPr/>
          <a:lstStyle/>
          <a:p>
            <a:r>
              <a:rPr lang="en-US"/>
              <a:t>                         </a:t>
            </a:r>
            <a:r>
              <a:rPr lang="en-US" b="1"/>
              <a:t>15.</a:t>
            </a:r>
            <a:r>
              <a:rPr lang="en-US" altLang="en-US" b="1"/>
              <a:t> Applications</a:t>
            </a:r>
          </a:p>
        </p:txBody>
      </p:sp>
      <p:sp>
        <p:nvSpPr>
          <p:cNvPr id="3" name="Content Placeholder 2"/>
          <p:cNvSpPr>
            <a:spLocks noGrp="1"/>
          </p:cNvSpPr>
          <p:nvPr>
            <p:ph idx="1"/>
          </p:nvPr>
        </p:nvSpPr>
        <p:spPr>
          <a:xfrm>
            <a:off x="838200" y="1226185"/>
            <a:ext cx="10515600" cy="4951095"/>
          </a:xfrm>
        </p:spPr>
        <p:txBody>
          <a:bodyPr/>
          <a:lstStyle/>
          <a:p>
            <a:r>
              <a:rPr lang="en-US" altLang="en-US"/>
              <a:t> Corporate data security</a:t>
            </a:r>
          </a:p>
          <a:p>
            <a:endParaRPr lang="en-US" altLang="en-US"/>
          </a:p>
          <a:p>
            <a:r>
              <a:rPr lang="en-US" altLang="en-US"/>
              <a:t>Academic institutions</a:t>
            </a:r>
          </a:p>
          <a:p>
            <a:endParaRPr lang="en-US" altLang="en-US"/>
          </a:p>
          <a:p>
            <a:r>
              <a:rPr lang="en-US" altLang="en-US"/>
              <a:t>Malware analysis environments</a:t>
            </a:r>
          </a:p>
          <a:p>
            <a:endParaRPr lang="en-US" altLang="en-US"/>
          </a:p>
          <a:p>
            <a:r>
              <a:rPr lang="en-US" altLang="en-US"/>
              <a:t>Secure document handling systems</a:t>
            </a:r>
          </a:p>
          <a:p>
            <a:endParaRPr lang="en-US" altLang="en-US"/>
          </a:p>
          <a:p>
            <a:r>
              <a:rPr lang="en-US" altLang="en-US"/>
              <a:t>File auditing and compliance monitoring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03805" y="365125"/>
            <a:ext cx="6777990" cy="1062355"/>
          </a:xfrm>
        </p:spPr>
        <p:txBody>
          <a:bodyPr/>
          <a:lstStyle/>
          <a:p>
            <a:r>
              <a:rPr lang="en-US" b="1"/>
              <a:t>16.</a:t>
            </a:r>
            <a:r>
              <a:rPr lang="en-US" altLang="en-US" b="1"/>
              <a:t>Future Enhancements</a:t>
            </a:r>
          </a:p>
        </p:txBody>
      </p:sp>
      <p:sp>
        <p:nvSpPr>
          <p:cNvPr id="3" name="Content Placeholder 2"/>
          <p:cNvSpPr>
            <a:spLocks noGrp="1"/>
          </p:cNvSpPr>
          <p:nvPr>
            <p:ph idx="1"/>
          </p:nvPr>
        </p:nvSpPr>
        <p:spPr/>
        <p:txBody>
          <a:bodyPr>
            <a:normAutofit/>
          </a:bodyPr>
          <a:lstStyle/>
          <a:p>
            <a:r>
              <a:rPr lang="en-US" altLang="en-US"/>
              <a:t>Add email or SMS alerts</a:t>
            </a:r>
          </a:p>
          <a:p>
            <a:endParaRPr lang="en-US" altLang="en-US"/>
          </a:p>
          <a:p>
            <a:r>
              <a:rPr lang="en-US" altLang="en-US"/>
              <a:t>Implement GUI interface</a:t>
            </a:r>
          </a:p>
          <a:p>
            <a:endParaRPr lang="en-US" altLang="en-US"/>
          </a:p>
          <a:p>
            <a:r>
              <a:rPr lang="en-US" altLang="en-US"/>
              <a:t>Integrate database for log storage</a:t>
            </a:r>
          </a:p>
          <a:p>
            <a:endParaRPr lang="en-US" altLang="en-US"/>
          </a:p>
          <a:p>
            <a:r>
              <a:rPr lang="en-US" altLang="en-US"/>
              <a:t>Add encryption verification</a:t>
            </a:r>
          </a:p>
          <a:p>
            <a:endParaRPr lang="en-US" altLang="en-US"/>
          </a:p>
          <a:p>
            <a:r>
              <a:rPr lang="en-US" altLang="en-US"/>
              <a:t>Support network file monitoring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3680"/>
            <a:ext cx="10515600" cy="1172845"/>
          </a:xfrm>
        </p:spPr>
        <p:txBody>
          <a:bodyPr/>
          <a:lstStyle/>
          <a:p>
            <a:r>
              <a:rPr lang="en-US"/>
              <a:t>                              </a:t>
            </a:r>
            <a:r>
              <a:rPr lang="en-US" b="1"/>
              <a:t>17.Conclusion</a:t>
            </a:r>
          </a:p>
        </p:txBody>
      </p:sp>
      <p:sp>
        <p:nvSpPr>
          <p:cNvPr id="3" name="Content Placeholder 2"/>
          <p:cNvSpPr>
            <a:spLocks noGrp="1"/>
          </p:cNvSpPr>
          <p:nvPr>
            <p:ph idx="1"/>
          </p:nvPr>
        </p:nvSpPr>
        <p:spPr>
          <a:xfrm>
            <a:off x="564515" y="1256665"/>
            <a:ext cx="10789285" cy="5427980"/>
          </a:xfrm>
        </p:spPr>
        <p:txBody>
          <a:bodyPr>
            <a:normAutofit fontScale="92500" lnSpcReduction="10000"/>
          </a:bodyPr>
          <a:lstStyle/>
          <a:p>
            <a:r>
              <a:rPr lang="en-US" altLang="en-US" sz="1800"/>
              <a:t>The Secure File Transfer Monitoring System successfully demonstrates how Python can be used to monitor file system activities in real time. By using watchdog, hashing, and logging mechanisms, the system ensures file integrity, detects sensitive file operations, and maintains a reliable audit trail. This project is effective for improving data security and monitoring file transfers in a controlled environment.</a:t>
            </a:r>
          </a:p>
          <a:p>
            <a:r>
              <a:rPr lang="en-US" altLang="en-US" sz="1800"/>
              <a:t>The Secure File Transfer Monitoring System developed using Python 3.13.2 successfully achieves its objective of monitoring file system activities in real time. The system continuously observes a specified directory and records all important file events such as file creation, modification, deletion, and movement, ensuring complete visibility of file operations.</a:t>
            </a:r>
          </a:p>
          <a:p>
            <a:endParaRPr lang="en-US" altLang="en-US" sz="1800"/>
          </a:p>
          <a:p>
            <a:r>
              <a:rPr lang="en-US" altLang="en-US" sz="1800"/>
              <a:t>By integrating the Watchdog library, the project efficiently captures file system changes without manual intervention. The use of SHA-256 hashing ensures file integrity by detecting even minor modifications in file content. This helps in identifying unauthorized changes and potential security threats. Additionally, the system identifies operations performed on sensitive directories and generates alerts, making it useful for protecting confidential data.</a:t>
            </a:r>
          </a:p>
          <a:p>
            <a:endParaRPr lang="en-US" altLang="en-US" sz="1800"/>
          </a:p>
          <a:p>
            <a:r>
              <a:rPr lang="en-US" altLang="en-US" sz="1800"/>
              <a:t>The logging mechanism plays a vital role by maintaining a permanent audit trail of all file activities. These logs can be used for security analysis, compliance verification, forensic investigation, and troubleshooting. The project demonstrates how simple yet powerful Python modules can be combined to build a practical and effective security monitoring tool</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246*92"/>
  <p:tag name="TABLE_ENDDRAG_RECT" val="310*40*246*92"/>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825*330"/>
  <p:tag name="TABLE_ENDDRAG_RECT" val="67*145*825*330"/>
  <p:tag name="TABLE_AUTOADJUST_FLAG"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12</TotalTime>
  <Words>1301</Words>
  <Application>Microsoft Office PowerPoint</Application>
  <PresentationFormat>Widescreen</PresentationFormat>
  <Paragraphs>224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Microsoft YaHei</vt:lpstr>
      <vt:lpstr>Arial</vt:lpstr>
      <vt:lpstr>Century Gothic</vt:lpstr>
      <vt:lpstr>Wingdings</vt:lpstr>
      <vt:lpstr>Wingdings 3</vt:lpstr>
      <vt:lpstr>Ion</vt:lpstr>
      <vt:lpstr>TITLE</vt:lpstr>
      <vt:lpstr>                                  INDEX</vt:lpstr>
      <vt:lpstr>                         1.Introduction</vt:lpstr>
      <vt:lpstr>                     2. Project Overview</vt:lpstr>
      <vt:lpstr>                 3. Objectives of the Project</vt:lpstr>
      <vt:lpstr>                     4.Objective of Project</vt:lpstr>
      <vt:lpstr>                      5.Pratical Motivation</vt:lpstr>
      <vt:lpstr>                        6.Scope of Project</vt:lpstr>
      <vt:lpstr>                        6.2Out of Scope</vt:lpstr>
      <vt:lpstr>                     7.System Requirements</vt:lpstr>
      <vt:lpstr>                       8.Technology Used</vt:lpstr>
      <vt:lpstr>                       9.Module Description</vt:lpstr>
      <vt:lpstr>PowerPoint Presentation</vt:lpstr>
      <vt:lpstr>                  10. Working of the System</vt:lpstr>
      <vt:lpstr>     11.Program Code (Main Logic Overview)</vt:lpstr>
      <vt:lpstr>                  12.Sample Output</vt:lpstr>
      <vt:lpstr>                                    12.1 Result/Sample Output.</vt:lpstr>
      <vt:lpstr>                  13. Advantages of the System</vt:lpstr>
      <vt:lpstr>                        14.Limitations</vt:lpstr>
      <vt:lpstr>                         15. Applications</vt:lpstr>
      <vt:lpstr>16.Future Enhancements</vt:lpstr>
      <vt:lpstr>                              17.Conclusion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Kamble</dc:creator>
  <cp:lastModifiedBy>Sanjana Kamble</cp:lastModifiedBy>
  <cp:revision>3</cp:revision>
  <dcterms:created xsi:type="dcterms:W3CDTF">2026-02-06T20:15:00Z</dcterms:created>
  <dcterms:modified xsi:type="dcterms:W3CDTF">2026-02-19T20:56:31Z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450F9FECCDF94B63A63FB978F6514BD6_12</vt:lpwstr>
  </property>
  <property fmtid="{D5CDD505-2E9C-101B-9397-08002B2CF9AE}" pid="3" name="KSOProductBuildVer">
    <vt:lpwstr>1033-12.2.0.23196</vt:lpwstr>
  </property>
</Properties>
</file>