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57" r:id="rId5"/>
    <p:sldId id="258" r:id="rId6"/>
    <p:sldId id="259" r:id="rId7"/>
    <p:sldId id="260" r:id="rId8"/>
    <p:sldId id="266" r:id="rId9"/>
    <p:sldId id="261" r:id="rId10"/>
    <p:sldId id="262"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6" d="100"/>
          <a:sy n="86" d="100"/>
        </p:scale>
        <p:origin x="5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jana Kamble" userId="833ed7261b0a54d8" providerId="LiveId" clId="{D521044D-BFD6-45AD-A9E9-B8ADBE511A53}"/>
    <pc:docChg chg="modSld">
      <pc:chgData name="Sanjana Kamble" userId="833ed7261b0a54d8" providerId="LiveId" clId="{D521044D-BFD6-45AD-A9E9-B8ADBE511A53}" dt="2026-02-06T19:17:36.651" v="21" actId="1076"/>
      <pc:docMkLst>
        <pc:docMk/>
      </pc:docMkLst>
      <pc:sldChg chg="modSp mod">
        <pc:chgData name="Sanjana Kamble" userId="833ed7261b0a54d8" providerId="LiveId" clId="{D521044D-BFD6-45AD-A9E9-B8ADBE511A53}" dt="2026-02-06T19:17:36.651" v="21" actId="1076"/>
        <pc:sldMkLst>
          <pc:docMk/>
          <pc:sldMk cId="2007660983" sldId="256"/>
        </pc:sldMkLst>
        <pc:spChg chg="mod">
          <ac:chgData name="Sanjana Kamble" userId="833ed7261b0a54d8" providerId="LiveId" clId="{D521044D-BFD6-45AD-A9E9-B8ADBE511A53}" dt="2026-02-06T19:17:36.651" v="21" actId="1076"/>
          <ac:spMkLst>
            <pc:docMk/>
            <pc:sldMk cId="2007660983" sldId="256"/>
            <ac:spMk id="3" creationId="{4A69EBC1-583B-3A1C-B96D-B950B8A8AA8C}"/>
          </ac:spMkLst>
        </pc:spChg>
      </pc:sldChg>
      <pc:sldChg chg="modSp mod">
        <pc:chgData name="Sanjana Kamble" userId="833ed7261b0a54d8" providerId="LiveId" clId="{D521044D-BFD6-45AD-A9E9-B8ADBE511A53}" dt="2026-02-06T18:39:04.260" v="20" actId="20577"/>
        <pc:sldMkLst>
          <pc:docMk/>
          <pc:sldMk cId="1042874031" sldId="266"/>
        </pc:sldMkLst>
        <pc:spChg chg="mod">
          <ac:chgData name="Sanjana Kamble" userId="833ed7261b0a54d8" providerId="LiveId" clId="{D521044D-BFD6-45AD-A9E9-B8ADBE511A53}" dt="2026-02-06T18:39:04.260" v="20" actId="20577"/>
          <ac:spMkLst>
            <pc:docMk/>
            <pc:sldMk cId="1042874031" sldId="266"/>
            <ac:spMk id="3" creationId="{E6953861-72DA-F2BC-7F95-62894762FBA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8FD5F-AD8C-376E-16D5-51F14BAF5A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CEF8B6F-87D1-EED6-5EAC-80A35230A5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957718C-BA94-B56B-8608-224DF7380688}"/>
              </a:ext>
            </a:extLst>
          </p:cNvPr>
          <p:cNvSpPr>
            <a:spLocks noGrp="1"/>
          </p:cNvSpPr>
          <p:nvPr>
            <p:ph type="dt" sz="half" idx="10"/>
          </p:nvPr>
        </p:nvSpPr>
        <p:spPr/>
        <p:txBody>
          <a:bodyPr/>
          <a:lstStyle/>
          <a:p>
            <a:fld id="{DBF9DA86-3D80-4D1C-8414-4B584786C8C5}" type="datetimeFigureOut">
              <a:rPr lang="en-IN" smtClean="0"/>
              <a:t>09-02-2026</a:t>
            </a:fld>
            <a:endParaRPr lang="en-IN"/>
          </a:p>
        </p:txBody>
      </p:sp>
      <p:sp>
        <p:nvSpPr>
          <p:cNvPr id="5" name="Footer Placeholder 4">
            <a:extLst>
              <a:ext uri="{FF2B5EF4-FFF2-40B4-BE49-F238E27FC236}">
                <a16:creationId xmlns:a16="http://schemas.microsoft.com/office/drawing/2014/main" id="{38ACD7E5-B085-5D79-263F-F041883FD1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0C0850-02FD-795F-454E-010BEC0592CF}"/>
              </a:ext>
            </a:extLst>
          </p:cNvPr>
          <p:cNvSpPr>
            <a:spLocks noGrp="1"/>
          </p:cNvSpPr>
          <p:nvPr>
            <p:ph type="sldNum" sz="quarter" idx="12"/>
          </p:nvPr>
        </p:nvSpPr>
        <p:spPr/>
        <p:txBody>
          <a:bodyPr/>
          <a:lstStyle/>
          <a:p>
            <a:fld id="{B09CF990-75F8-4E21-A50E-9A05E037493D}" type="slidenum">
              <a:rPr lang="en-IN" smtClean="0"/>
              <a:t>‹#›</a:t>
            </a:fld>
            <a:endParaRPr lang="en-IN"/>
          </a:p>
        </p:txBody>
      </p:sp>
    </p:spTree>
    <p:extLst>
      <p:ext uri="{BB962C8B-B14F-4D97-AF65-F5344CB8AC3E}">
        <p14:creationId xmlns:p14="http://schemas.microsoft.com/office/powerpoint/2010/main" val="1857645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C0896-84E5-7960-39ED-457706522E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F28D09-2A40-7670-232E-7956C847C0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8FCF02-5D21-7897-0840-5CA653022D41}"/>
              </a:ext>
            </a:extLst>
          </p:cNvPr>
          <p:cNvSpPr>
            <a:spLocks noGrp="1"/>
          </p:cNvSpPr>
          <p:nvPr>
            <p:ph type="dt" sz="half" idx="10"/>
          </p:nvPr>
        </p:nvSpPr>
        <p:spPr/>
        <p:txBody>
          <a:bodyPr/>
          <a:lstStyle/>
          <a:p>
            <a:fld id="{DBF9DA86-3D80-4D1C-8414-4B584786C8C5}" type="datetimeFigureOut">
              <a:rPr lang="en-IN" smtClean="0"/>
              <a:t>09-02-2026</a:t>
            </a:fld>
            <a:endParaRPr lang="en-IN"/>
          </a:p>
        </p:txBody>
      </p:sp>
      <p:sp>
        <p:nvSpPr>
          <p:cNvPr id="5" name="Footer Placeholder 4">
            <a:extLst>
              <a:ext uri="{FF2B5EF4-FFF2-40B4-BE49-F238E27FC236}">
                <a16:creationId xmlns:a16="http://schemas.microsoft.com/office/drawing/2014/main" id="{F136EF4B-4149-BE27-BCD6-CCFE5F495C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31407A-477E-1210-858C-3B9EEDC6D284}"/>
              </a:ext>
            </a:extLst>
          </p:cNvPr>
          <p:cNvSpPr>
            <a:spLocks noGrp="1"/>
          </p:cNvSpPr>
          <p:nvPr>
            <p:ph type="sldNum" sz="quarter" idx="12"/>
          </p:nvPr>
        </p:nvSpPr>
        <p:spPr/>
        <p:txBody>
          <a:bodyPr/>
          <a:lstStyle/>
          <a:p>
            <a:fld id="{B09CF990-75F8-4E21-A50E-9A05E037493D}" type="slidenum">
              <a:rPr lang="en-IN" smtClean="0"/>
              <a:t>‹#›</a:t>
            </a:fld>
            <a:endParaRPr lang="en-IN"/>
          </a:p>
        </p:txBody>
      </p:sp>
    </p:spTree>
    <p:extLst>
      <p:ext uri="{BB962C8B-B14F-4D97-AF65-F5344CB8AC3E}">
        <p14:creationId xmlns:p14="http://schemas.microsoft.com/office/powerpoint/2010/main" val="2102583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DB62E-8BFA-7AE9-3198-4F1D4E0625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09A3DF5-8F50-78FF-BE39-29067CAF4A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928086-6CDB-52D0-C459-7521625E1FEA}"/>
              </a:ext>
            </a:extLst>
          </p:cNvPr>
          <p:cNvSpPr>
            <a:spLocks noGrp="1"/>
          </p:cNvSpPr>
          <p:nvPr>
            <p:ph type="dt" sz="half" idx="10"/>
          </p:nvPr>
        </p:nvSpPr>
        <p:spPr/>
        <p:txBody>
          <a:bodyPr/>
          <a:lstStyle/>
          <a:p>
            <a:fld id="{DBF9DA86-3D80-4D1C-8414-4B584786C8C5}" type="datetimeFigureOut">
              <a:rPr lang="en-IN" smtClean="0"/>
              <a:t>09-02-2026</a:t>
            </a:fld>
            <a:endParaRPr lang="en-IN"/>
          </a:p>
        </p:txBody>
      </p:sp>
      <p:sp>
        <p:nvSpPr>
          <p:cNvPr id="5" name="Footer Placeholder 4">
            <a:extLst>
              <a:ext uri="{FF2B5EF4-FFF2-40B4-BE49-F238E27FC236}">
                <a16:creationId xmlns:a16="http://schemas.microsoft.com/office/drawing/2014/main" id="{E5A384D8-7893-7149-B633-D862333924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0DB42A-AE18-2C8B-EC38-653F562F96AA}"/>
              </a:ext>
            </a:extLst>
          </p:cNvPr>
          <p:cNvSpPr>
            <a:spLocks noGrp="1"/>
          </p:cNvSpPr>
          <p:nvPr>
            <p:ph type="sldNum" sz="quarter" idx="12"/>
          </p:nvPr>
        </p:nvSpPr>
        <p:spPr/>
        <p:txBody>
          <a:bodyPr/>
          <a:lstStyle/>
          <a:p>
            <a:fld id="{B09CF990-75F8-4E21-A50E-9A05E037493D}" type="slidenum">
              <a:rPr lang="en-IN" smtClean="0"/>
              <a:t>‹#›</a:t>
            </a:fld>
            <a:endParaRPr lang="en-IN"/>
          </a:p>
        </p:txBody>
      </p:sp>
    </p:spTree>
    <p:extLst>
      <p:ext uri="{BB962C8B-B14F-4D97-AF65-F5344CB8AC3E}">
        <p14:creationId xmlns:p14="http://schemas.microsoft.com/office/powerpoint/2010/main" val="3477135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5000D-EC72-D66C-F428-64D3685F7F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0F7BF8-AEE6-E36C-7C5D-190DA397FD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7CC867-67A2-A289-670D-5438858ACC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0007381-D6EF-1963-E4AF-04E182F1027A}"/>
              </a:ext>
            </a:extLst>
          </p:cNvPr>
          <p:cNvSpPr>
            <a:spLocks noGrp="1"/>
          </p:cNvSpPr>
          <p:nvPr>
            <p:ph type="dt" sz="half" idx="10"/>
          </p:nvPr>
        </p:nvSpPr>
        <p:spPr/>
        <p:txBody>
          <a:bodyPr/>
          <a:lstStyle/>
          <a:p>
            <a:fld id="{DBF9DA86-3D80-4D1C-8414-4B584786C8C5}" type="datetimeFigureOut">
              <a:rPr lang="en-IN" smtClean="0"/>
              <a:t>09-02-2026</a:t>
            </a:fld>
            <a:endParaRPr lang="en-IN"/>
          </a:p>
        </p:txBody>
      </p:sp>
      <p:sp>
        <p:nvSpPr>
          <p:cNvPr id="6" name="Footer Placeholder 5">
            <a:extLst>
              <a:ext uri="{FF2B5EF4-FFF2-40B4-BE49-F238E27FC236}">
                <a16:creationId xmlns:a16="http://schemas.microsoft.com/office/drawing/2014/main" id="{64F55A23-2FA2-22FA-70A7-C8D93E177E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EDBE49-2D16-2D7B-8149-D20BDA22E6D2}"/>
              </a:ext>
            </a:extLst>
          </p:cNvPr>
          <p:cNvSpPr>
            <a:spLocks noGrp="1"/>
          </p:cNvSpPr>
          <p:nvPr>
            <p:ph type="sldNum" sz="quarter" idx="12"/>
          </p:nvPr>
        </p:nvSpPr>
        <p:spPr/>
        <p:txBody>
          <a:bodyPr/>
          <a:lstStyle/>
          <a:p>
            <a:fld id="{B09CF990-75F8-4E21-A50E-9A05E037493D}" type="slidenum">
              <a:rPr lang="en-IN" smtClean="0"/>
              <a:t>‹#›</a:t>
            </a:fld>
            <a:endParaRPr lang="en-IN"/>
          </a:p>
        </p:txBody>
      </p:sp>
    </p:spTree>
    <p:extLst>
      <p:ext uri="{BB962C8B-B14F-4D97-AF65-F5344CB8AC3E}">
        <p14:creationId xmlns:p14="http://schemas.microsoft.com/office/powerpoint/2010/main" val="1400949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9524E-5FFF-8547-ED8C-69DDFA51863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1F97A2-6DEB-E452-C08E-BEAAA65BD3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1AA2DD-7EE3-C51F-EEE0-7C6668D51A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5F9D706-A9D7-D605-342C-5B53662FA2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E3A86D-6765-9EF1-E099-3AEF718B37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593C46C-805F-579B-E964-3B978E2A21E9}"/>
              </a:ext>
            </a:extLst>
          </p:cNvPr>
          <p:cNvSpPr>
            <a:spLocks noGrp="1"/>
          </p:cNvSpPr>
          <p:nvPr>
            <p:ph type="dt" sz="half" idx="10"/>
          </p:nvPr>
        </p:nvSpPr>
        <p:spPr/>
        <p:txBody>
          <a:bodyPr/>
          <a:lstStyle/>
          <a:p>
            <a:fld id="{DBF9DA86-3D80-4D1C-8414-4B584786C8C5}" type="datetimeFigureOut">
              <a:rPr lang="en-IN" smtClean="0"/>
              <a:t>09-02-2026</a:t>
            </a:fld>
            <a:endParaRPr lang="en-IN"/>
          </a:p>
        </p:txBody>
      </p:sp>
      <p:sp>
        <p:nvSpPr>
          <p:cNvPr id="8" name="Footer Placeholder 7">
            <a:extLst>
              <a:ext uri="{FF2B5EF4-FFF2-40B4-BE49-F238E27FC236}">
                <a16:creationId xmlns:a16="http://schemas.microsoft.com/office/drawing/2014/main" id="{56463EF9-B03C-10D9-F866-FED68534235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68180E1-9049-60C9-3059-5E41BF3A747D}"/>
              </a:ext>
            </a:extLst>
          </p:cNvPr>
          <p:cNvSpPr>
            <a:spLocks noGrp="1"/>
          </p:cNvSpPr>
          <p:nvPr>
            <p:ph type="sldNum" sz="quarter" idx="12"/>
          </p:nvPr>
        </p:nvSpPr>
        <p:spPr/>
        <p:txBody>
          <a:bodyPr/>
          <a:lstStyle/>
          <a:p>
            <a:fld id="{B09CF990-75F8-4E21-A50E-9A05E037493D}" type="slidenum">
              <a:rPr lang="en-IN" smtClean="0"/>
              <a:t>‹#›</a:t>
            </a:fld>
            <a:endParaRPr lang="en-IN"/>
          </a:p>
        </p:txBody>
      </p:sp>
    </p:spTree>
    <p:extLst>
      <p:ext uri="{BB962C8B-B14F-4D97-AF65-F5344CB8AC3E}">
        <p14:creationId xmlns:p14="http://schemas.microsoft.com/office/powerpoint/2010/main" val="3364520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A4596-5208-B362-444B-17D43B029F6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E445E74-4374-E8EE-A082-25A75F507F64}"/>
              </a:ext>
            </a:extLst>
          </p:cNvPr>
          <p:cNvSpPr>
            <a:spLocks noGrp="1"/>
          </p:cNvSpPr>
          <p:nvPr>
            <p:ph type="dt" sz="half" idx="10"/>
          </p:nvPr>
        </p:nvSpPr>
        <p:spPr/>
        <p:txBody>
          <a:bodyPr/>
          <a:lstStyle/>
          <a:p>
            <a:fld id="{DBF9DA86-3D80-4D1C-8414-4B584786C8C5}" type="datetimeFigureOut">
              <a:rPr lang="en-IN" smtClean="0"/>
              <a:t>09-02-2026</a:t>
            </a:fld>
            <a:endParaRPr lang="en-IN"/>
          </a:p>
        </p:txBody>
      </p:sp>
      <p:sp>
        <p:nvSpPr>
          <p:cNvPr id="4" name="Footer Placeholder 3">
            <a:extLst>
              <a:ext uri="{FF2B5EF4-FFF2-40B4-BE49-F238E27FC236}">
                <a16:creationId xmlns:a16="http://schemas.microsoft.com/office/drawing/2014/main" id="{8C4A0FBA-BCD9-8B5E-DE77-935BFAF4642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0277605-2249-1AA5-81A1-E6D04F3B5D37}"/>
              </a:ext>
            </a:extLst>
          </p:cNvPr>
          <p:cNvSpPr>
            <a:spLocks noGrp="1"/>
          </p:cNvSpPr>
          <p:nvPr>
            <p:ph type="sldNum" sz="quarter" idx="12"/>
          </p:nvPr>
        </p:nvSpPr>
        <p:spPr/>
        <p:txBody>
          <a:bodyPr/>
          <a:lstStyle/>
          <a:p>
            <a:fld id="{B09CF990-75F8-4E21-A50E-9A05E037493D}" type="slidenum">
              <a:rPr lang="en-IN" smtClean="0"/>
              <a:t>‹#›</a:t>
            </a:fld>
            <a:endParaRPr lang="en-IN"/>
          </a:p>
        </p:txBody>
      </p:sp>
    </p:spTree>
    <p:extLst>
      <p:ext uri="{BB962C8B-B14F-4D97-AF65-F5344CB8AC3E}">
        <p14:creationId xmlns:p14="http://schemas.microsoft.com/office/powerpoint/2010/main" val="3019492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C6DDDE-83CA-9A09-9642-9F20EE28489F}"/>
              </a:ext>
            </a:extLst>
          </p:cNvPr>
          <p:cNvSpPr>
            <a:spLocks noGrp="1"/>
          </p:cNvSpPr>
          <p:nvPr>
            <p:ph type="dt" sz="half" idx="10"/>
          </p:nvPr>
        </p:nvSpPr>
        <p:spPr/>
        <p:txBody>
          <a:bodyPr/>
          <a:lstStyle/>
          <a:p>
            <a:fld id="{DBF9DA86-3D80-4D1C-8414-4B584786C8C5}" type="datetimeFigureOut">
              <a:rPr lang="en-IN" smtClean="0"/>
              <a:t>09-02-2026</a:t>
            </a:fld>
            <a:endParaRPr lang="en-IN"/>
          </a:p>
        </p:txBody>
      </p:sp>
      <p:sp>
        <p:nvSpPr>
          <p:cNvPr id="3" name="Footer Placeholder 2">
            <a:extLst>
              <a:ext uri="{FF2B5EF4-FFF2-40B4-BE49-F238E27FC236}">
                <a16:creationId xmlns:a16="http://schemas.microsoft.com/office/drawing/2014/main" id="{11F683B4-D73A-C327-C545-5E23C02836E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A74E1BD-14C1-9BD5-0FA2-D6AE01DF11C3}"/>
              </a:ext>
            </a:extLst>
          </p:cNvPr>
          <p:cNvSpPr>
            <a:spLocks noGrp="1"/>
          </p:cNvSpPr>
          <p:nvPr>
            <p:ph type="sldNum" sz="quarter" idx="12"/>
          </p:nvPr>
        </p:nvSpPr>
        <p:spPr/>
        <p:txBody>
          <a:bodyPr/>
          <a:lstStyle/>
          <a:p>
            <a:fld id="{B09CF990-75F8-4E21-A50E-9A05E037493D}" type="slidenum">
              <a:rPr lang="en-IN" smtClean="0"/>
              <a:t>‹#›</a:t>
            </a:fld>
            <a:endParaRPr lang="en-IN"/>
          </a:p>
        </p:txBody>
      </p:sp>
    </p:spTree>
    <p:extLst>
      <p:ext uri="{BB962C8B-B14F-4D97-AF65-F5344CB8AC3E}">
        <p14:creationId xmlns:p14="http://schemas.microsoft.com/office/powerpoint/2010/main" val="1537642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0EAE0-5BCA-6D04-9282-8C704F310B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D8E7148-24D2-139C-BB20-ECCB504469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DB89DFB-003E-B371-F551-BBEE3098B3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A69DBD-21FE-32CB-0606-9F65DFC37485}"/>
              </a:ext>
            </a:extLst>
          </p:cNvPr>
          <p:cNvSpPr>
            <a:spLocks noGrp="1"/>
          </p:cNvSpPr>
          <p:nvPr>
            <p:ph type="dt" sz="half" idx="10"/>
          </p:nvPr>
        </p:nvSpPr>
        <p:spPr/>
        <p:txBody>
          <a:bodyPr/>
          <a:lstStyle/>
          <a:p>
            <a:fld id="{DBF9DA86-3D80-4D1C-8414-4B584786C8C5}" type="datetimeFigureOut">
              <a:rPr lang="en-IN" smtClean="0"/>
              <a:t>09-02-2026</a:t>
            </a:fld>
            <a:endParaRPr lang="en-IN"/>
          </a:p>
        </p:txBody>
      </p:sp>
      <p:sp>
        <p:nvSpPr>
          <p:cNvPr id="6" name="Footer Placeholder 5">
            <a:extLst>
              <a:ext uri="{FF2B5EF4-FFF2-40B4-BE49-F238E27FC236}">
                <a16:creationId xmlns:a16="http://schemas.microsoft.com/office/drawing/2014/main" id="{2638890F-9293-C288-D02E-63BBAB71BB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FB337C-B820-9816-88CC-5457BDB6E8A6}"/>
              </a:ext>
            </a:extLst>
          </p:cNvPr>
          <p:cNvSpPr>
            <a:spLocks noGrp="1"/>
          </p:cNvSpPr>
          <p:nvPr>
            <p:ph type="sldNum" sz="quarter" idx="12"/>
          </p:nvPr>
        </p:nvSpPr>
        <p:spPr/>
        <p:txBody>
          <a:bodyPr/>
          <a:lstStyle/>
          <a:p>
            <a:fld id="{B09CF990-75F8-4E21-A50E-9A05E037493D}" type="slidenum">
              <a:rPr lang="en-IN" smtClean="0"/>
              <a:t>‹#›</a:t>
            </a:fld>
            <a:endParaRPr lang="en-IN"/>
          </a:p>
        </p:txBody>
      </p:sp>
    </p:spTree>
    <p:extLst>
      <p:ext uri="{BB962C8B-B14F-4D97-AF65-F5344CB8AC3E}">
        <p14:creationId xmlns:p14="http://schemas.microsoft.com/office/powerpoint/2010/main" val="897995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E7F79-465D-62AA-8C63-6910DEDC2D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CEAAFE5-5941-C682-E91E-2EA43FF88F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D244C83-2FF2-2EB5-DEAE-1F35B6B329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A1826D-949C-EADF-0F02-411060E72EB5}"/>
              </a:ext>
            </a:extLst>
          </p:cNvPr>
          <p:cNvSpPr>
            <a:spLocks noGrp="1"/>
          </p:cNvSpPr>
          <p:nvPr>
            <p:ph type="dt" sz="half" idx="10"/>
          </p:nvPr>
        </p:nvSpPr>
        <p:spPr/>
        <p:txBody>
          <a:bodyPr/>
          <a:lstStyle/>
          <a:p>
            <a:fld id="{DBF9DA86-3D80-4D1C-8414-4B584786C8C5}" type="datetimeFigureOut">
              <a:rPr lang="en-IN" smtClean="0"/>
              <a:t>09-02-2026</a:t>
            </a:fld>
            <a:endParaRPr lang="en-IN"/>
          </a:p>
        </p:txBody>
      </p:sp>
      <p:sp>
        <p:nvSpPr>
          <p:cNvPr id="6" name="Footer Placeholder 5">
            <a:extLst>
              <a:ext uri="{FF2B5EF4-FFF2-40B4-BE49-F238E27FC236}">
                <a16:creationId xmlns:a16="http://schemas.microsoft.com/office/drawing/2014/main" id="{86CC3610-2BA7-F6A5-DC82-3074ED90AA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6992ED-31BB-0851-18D6-C22F61A94853}"/>
              </a:ext>
            </a:extLst>
          </p:cNvPr>
          <p:cNvSpPr>
            <a:spLocks noGrp="1"/>
          </p:cNvSpPr>
          <p:nvPr>
            <p:ph type="sldNum" sz="quarter" idx="12"/>
          </p:nvPr>
        </p:nvSpPr>
        <p:spPr/>
        <p:txBody>
          <a:bodyPr/>
          <a:lstStyle/>
          <a:p>
            <a:fld id="{B09CF990-75F8-4E21-A50E-9A05E037493D}" type="slidenum">
              <a:rPr lang="en-IN" smtClean="0"/>
              <a:t>‹#›</a:t>
            </a:fld>
            <a:endParaRPr lang="en-IN"/>
          </a:p>
        </p:txBody>
      </p:sp>
    </p:spTree>
    <p:extLst>
      <p:ext uri="{BB962C8B-B14F-4D97-AF65-F5344CB8AC3E}">
        <p14:creationId xmlns:p14="http://schemas.microsoft.com/office/powerpoint/2010/main" val="962559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F1AD4-ABA9-3058-8F48-01AA57CA8B1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C5C40FA-87C5-2974-FD35-BA7D0D971F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23808E-E170-8FE5-36C2-23A41D22E304}"/>
              </a:ext>
            </a:extLst>
          </p:cNvPr>
          <p:cNvSpPr>
            <a:spLocks noGrp="1"/>
          </p:cNvSpPr>
          <p:nvPr>
            <p:ph type="dt" sz="half" idx="10"/>
          </p:nvPr>
        </p:nvSpPr>
        <p:spPr/>
        <p:txBody>
          <a:bodyPr/>
          <a:lstStyle/>
          <a:p>
            <a:fld id="{DBF9DA86-3D80-4D1C-8414-4B584786C8C5}" type="datetimeFigureOut">
              <a:rPr lang="en-IN" smtClean="0"/>
              <a:t>09-02-2026</a:t>
            </a:fld>
            <a:endParaRPr lang="en-IN"/>
          </a:p>
        </p:txBody>
      </p:sp>
      <p:sp>
        <p:nvSpPr>
          <p:cNvPr id="5" name="Footer Placeholder 4">
            <a:extLst>
              <a:ext uri="{FF2B5EF4-FFF2-40B4-BE49-F238E27FC236}">
                <a16:creationId xmlns:a16="http://schemas.microsoft.com/office/drawing/2014/main" id="{CC1B6088-8B27-EE4D-8AF4-0F3F9FA79E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52533A-B397-AC99-5D4F-A95FEC0FCCBB}"/>
              </a:ext>
            </a:extLst>
          </p:cNvPr>
          <p:cNvSpPr>
            <a:spLocks noGrp="1"/>
          </p:cNvSpPr>
          <p:nvPr>
            <p:ph type="sldNum" sz="quarter" idx="12"/>
          </p:nvPr>
        </p:nvSpPr>
        <p:spPr/>
        <p:txBody>
          <a:bodyPr/>
          <a:lstStyle/>
          <a:p>
            <a:fld id="{B09CF990-75F8-4E21-A50E-9A05E037493D}" type="slidenum">
              <a:rPr lang="en-IN" smtClean="0"/>
              <a:t>‹#›</a:t>
            </a:fld>
            <a:endParaRPr lang="en-IN"/>
          </a:p>
        </p:txBody>
      </p:sp>
    </p:spTree>
    <p:extLst>
      <p:ext uri="{BB962C8B-B14F-4D97-AF65-F5344CB8AC3E}">
        <p14:creationId xmlns:p14="http://schemas.microsoft.com/office/powerpoint/2010/main" val="2856721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FCCDD5-201D-7730-D7CE-CA5312D2FB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0EF2FD-2161-DFA3-6934-09DDDBFA86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67F659-8E03-BE8B-1B28-532EA6770C52}"/>
              </a:ext>
            </a:extLst>
          </p:cNvPr>
          <p:cNvSpPr>
            <a:spLocks noGrp="1"/>
          </p:cNvSpPr>
          <p:nvPr>
            <p:ph type="dt" sz="half" idx="10"/>
          </p:nvPr>
        </p:nvSpPr>
        <p:spPr/>
        <p:txBody>
          <a:bodyPr/>
          <a:lstStyle/>
          <a:p>
            <a:fld id="{DBF9DA86-3D80-4D1C-8414-4B584786C8C5}" type="datetimeFigureOut">
              <a:rPr lang="en-IN" smtClean="0"/>
              <a:t>09-02-2026</a:t>
            </a:fld>
            <a:endParaRPr lang="en-IN"/>
          </a:p>
        </p:txBody>
      </p:sp>
      <p:sp>
        <p:nvSpPr>
          <p:cNvPr id="5" name="Footer Placeholder 4">
            <a:extLst>
              <a:ext uri="{FF2B5EF4-FFF2-40B4-BE49-F238E27FC236}">
                <a16:creationId xmlns:a16="http://schemas.microsoft.com/office/drawing/2014/main" id="{1E6A3DAA-CBE7-9051-119E-E2E1D2A6E3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45E440-13C0-87B2-DB13-4D9FD3AC48BA}"/>
              </a:ext>
            </a:extLst>
          </p:cNvPr>
          <p:cNvSpPr>
            <a:spLocks noGrp="1"/>
          </p:cNvSpPr>
          <p:nvPr>
            <p:ph type="sldNum" sz="quarter" idx="12"/>
          </p:nvPr>
        </p:nvSpPr>
        <p:spPr/>
        <p:txBody>
          <a:bodyPr/>
          <a:lstStyle/>
          <a:p>
            <a:fld id="{B09CF990-75F8-4E21-A50E-9A05E037493D}" type="slidenum">
              <a:rPr lang="en-IN" smtClean="0"/>
              <a:t>‹#›</a:t>
            </a:fld>
            <a:endParaRPr lang="en-IN"/>
          </a:p>
        </p:txBody>
      </p:sp>
    </p:spTree>
    <p:extLst>
      <p:ext uri="{BB962C8B-B14F-4D97-AF65-F5344CB8AC3E}">
        <p14:creationId xmlns:p14="http://schemas.microsoft.com/office/powerpoint/2010/main" val="2882670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DE1347-CEBC-4ABC-507F-07B7CB46B1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289B45-74F4-E90B-2CEE-892CF080A5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926DC2-C707-0F93-7464-F9CA0C6021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F9DA86-3D80-4D1C-8414-4B584786C8C5}" type="datetimeFigureOut">
              <a:rPr lang="en-IN" smtClean="0"/>
              <a:t>09-02-2026</a:t>
            </a:fld>
            <a:endParaRPr lang="en-IN"/>
          </a:p>
        </p:txBody>
      </p:sp>
      <p:sp>
        <p:nvSpPr>
          <p:cNvPr id="5" name="Footer Placeholder 4">
            <a:extLst>
              <a:ext uri="{FF2B5EF4-FFF2-40B4-BE49-F238E27FC236}">
                <a16:creationId xmlns:a16="http://schemas.microsoft.com/office/drawing/2014/main" id="{AEF6DA14-52BC-6E39-01E6-74F7801B59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227AD25-2A15-0CD3-A8D2-702767BABE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9CF990-75F8-4E21-A50E-9A05E037493D}" type="slidenum">
              <a:rPr lang="en-IN" smtClean="0"/>
              <a:t>‹#›</a:t>
            </a:fld>
            <a:endParaRPr lang="en-IN"/>
          </a:p>
        </p:txBody>
      </p:sp>
    </p:spTree>
    <p:extLst>
      <p:ext uri="{BB962C8B-B14F-4D97-AF65-F5344CB8AC3E}">
        <p14:creationId xmlns:p14="http://schemas.microsoft.com/office/powerpoint/2010/main" val="12057032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6BE40-9EF7-36D7-991D-D5592982E82F}"/>
              </a:ext>
            </a:extLst>
          </p:cNvPr>
          <p:cNvSpPr>
            <a:spLocks noGrp="1"/>
          </p:cNvSpPr>
          <p:nvPr>
            <p:ph type="ctrTitle"/>
          </p:nvPr>
        </p:nvSpPr>
        <p:spPr>
          <a:xfrm>
            <a:off x="855133" y="203200"/>
            <a:ext cx="9812867" cy="745067"/>
          </a:xfrm>
        </p:spPr>
        <p:txBody>
          <a:bodyPr>
            <a:normAutofit/>
          </a:bodyPr>
          <a:lstStyle/>
          <a:p>
            <a:r>
              <a:rPr lang="en-US" sz="3600" b="1" dirty="0"/>
              <a:t>1.TITLE.</a:t>
            </a:r>
            <a:endParaRPr lang="en-IN" sz="3600" b="1" dirty="0"/>
          </a:p>
        </p:txBody>
      </p:sp>
      <p:sp>
        <p:nvSpPr>
          <p:cNvPr id="3" name="Subtitle 2">
            <a:extLst>
              <a:ext uri="{FF2B5EF4-FFF2-40B4-BE49-F238E27FC236}">
                <a16:creationId xmlns:a16="http://schemas.microsoft.com/office/drawing/2014/main" id="{4A69EBC1-583B-3A1C-B96D-B950B8A8AA8C}"/>
              </a:ext>
            </a:extLst>
          </p:cNvPr>
          <p:cNvSpPr>
            <a:spLocks noGrp="1"/>
          </p:cNvSpPr>
          <p:nvPr>
            <p:ph type="subTitle" idx="1"/>
          </p:nvPr>
        </p:nvSpPr>
        <p:spPr>
          <a:xfrm>
            <a:off x="1189566" y="1616476"/>
            <a:ext cx="9812867" cy="3928533"/>
          </a:xfrm>
        </p:spPr>
        <p:txBody>
          <a:bodyPr>
            <a:normAutofit/>
          </a:bodyPr>
          <a:lstStyle/>
          <a:p>
            <a:r>
              <a:rPr lang="en-US" b="1" dirty="0"/>
              <a:t>NAME:SANJANA SUBHASH KAMBLE</a:t>
            </a:r>
          </a:p>
          <a:p>
            <a:r>
              <a:rPr lang="en-US" b="1" dirty="0"/>
              <a:t>COLLEGE NAME:ABASAHEB GARWARE COLLEGE</a:t>
            </a:r>
          </a:p>
          <a:p>
            <a:r>
              <a:rPr lang="en-US" b="1" dirty="0"/>
              <a:t>PROJECT:PDF_MALWARE_ANALYSIS</a:t>
            </a:r>
          </a:p>
          <a:p>
            <a:r>
              <a:rPr lang="en-US" b="1" dirty="0"/>
              <a:t>SUBJECT-CYBERSECURITY</a:t>
            </a:r>
          </a:p>
          <a:p>
            <a:r>
              <a:rPr lang="en-US" b="1" dirty="0"/>
              <a:t>TYBSC-COMPUTER SCIENCE</a:t>
            </a:r>
          </a:p>
          <a:p>
            <a:r>
              <a:rPr lang="en-US" b="1" dirty="0"/>
              <a:t>ROLLNO:13389</a:t>
            </a:r>
            <a:endParaRPr lang="en-IN" b="1" dirty="0"/>
          </a:p>
          <a:p>
            <a:r>
              <a:rPr lang="en-IN" b="1" dirty="0"/>
              <a:t>ACADEMIC YEAR:2025-2026</a:t>
            </a:r>
            <a:endParaRPr lang="en-US" b="1" dirty="0"/>
          </a:p>
        </p:txBody>
      </p:sp>
    </p:spTree>
    <p:extLst>
      <p:ext uri="{BB962C8B-B14F-4D97-AF65-F5344CB8AC3E}">
        <p14:creationId xmlns:p14="http://schemas.microsoft.com/office/powerpoint/2010/main" val="2007660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2CE94-FD7C-0853-20D9-5B40527B92F2}"/>
              </a:ext>
            </a:extLst>
          </p:cNvPr>
          <p:cNvSpPr>
            <a:spLocks noGrp="1"/>
          </p:cNvSpPr>
          <p:nvPr>
            <p:ph type="title"/>
          </p:nvPr>
        </p:nvSpPr>
        <p:spPr>
          <a:xfrm>
            <a:off x="838200" y="118534"/>
            <a:ext cx="10515600" cy="855134"/>
          </a:xfrm>
        </p:spPr>
        <p:txBody>
          <a:bodyPr/>
          <a:lstStyle/>
          <a:p>
            <a:r>
              <a:rPr lang="en-US" dirty="0"/>
              <a:t>                         </a:t>
            </a:r>
            <a:r>
              <a:rPr lang="en-US" sz="3600" b="1" dirty="0"/>
              <a:t>2.Introduction</a:t>
            </a:r>
            <a:endParaRPr lang="en-IN" sz="3600" b="1" dirty="0"/>
          </a:p>
        </p:txBody>
      </p:sp>
      <p:sp>
        <p:nvSpPr>
          <p:cNvPr id="3" name="Content Placeholder 2">
            <a:extLst>
              <a:ext uri="{FF2B5EF4-FFF2-40B4-BE49-F238E27FC236}">
                <a16:creationId xmlns:a16="http://schemas.microsoft.com/office/drawing/2014/main" id="{FAF61D88-1DFA-C60E-15F5-62439DE772FF}"/>
              </a:ext>
            </a:extLst>
          </p:cNvPr>
          <p:cNvSpPr>
            <a:spLocks noGrp="1"/>
          </p:cNvSpPr>
          <p:nvPr>
            <p:ph idx="1"/>
          </p:nvPr>
        </p:nvSpPr>
        <p:spPr>
          <a:xfrm>
            <a:off x="838200" y="1066800"/>
            <a:ext cx="10515600" cy="5587999"/>
          </a:xfrm>
        </p:spPr>
        <p:txBody>
          <a:bodyPr>
            <a:normAutofit/>
          </a:bodyPr>
          <a:lstStyle/>
          <a:p>
            <a:r>
              <a:rPr lang="en-US" sz="1800" dirty="0"/>
              <a:t>Portable Document Format (PDF) is one of the most commonly used file formats for sharing documents across the internet. PDF files are widely used in emails, websites, offices, and educational institutions because they preserve formatting and are easy to open on different devices.</a:t>
            </a:r>
          </a:p>
          <a:p>
            <a:r>
              <a:rPr lang="en-US" sz="1800" dirty="0"/>
              <a:t>Due to their popularity and trusted nature, PDF files have become a common target for cyber attackers. Malicious PDF files may contain embedded JavaScript, hidden objects, malicious links, or exploit code that can harm a system when the file is opened.</a:t>
            </a:r>
          </a:p>
          <a:p>
            <a:r>
              <a:rPr lang="en-US" sz="1800" dirty="0"/>
              <a:t>PDF malware analysis is the process of examining PDF files to detect suspicious or malicious content without opening the file in an unsafe manner. This analysis helps in identifying threats such as phishing links, embedded scripts, and exploit attempts used by attackers.</a:t>
            </a:r>
          </a:p>
          <a:p>
            <a:r>
              <a:rPr lang="en-US" sz="1800" dirty="0"/>
              <a:t>By performing PDF malware analysis, security analysts can understand how malware is hidden inside documents and prevent potential cyber-attacks. This project focuses on static analysis techniques to safely inspect PDF files and identify possible security risks.</a:t>
            </a:r>
          </a:p>
          <a:p>
            <a:r>
              <a:rPr lang="en-US" sz="1800" dirty="0"/>
              <a:t>Understanding PDF malware analysis is important for cyber security professionals as it helps prevent malware infections and data breaches. This project focuses on building an automated PDF malware analysis toolkit using Python, which scans PDF files for malicious indicators, extracts important information, and provides a risk assessment to help users decide whether a PDF file is safe or dangerous</a:t>
            </a:r>
          </a:p>
        </p:txBody>
      </p:sp>
    </p:spTree>
    <p:extLst>
      <p:ext uri="{BB962C8B-B14F-4D97-AF65-F5344CB8AC3E}">
        <p14:creationId xmlns:p14="http://schemas.microsoft.com/office/powerpoint/2010/main" val="1808095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1D26E-504C-300F-E81E-E45D5798459B}"/>
              </a:ext>
            </a:extLst>
          </p:cNvPr>
          <p:cNvSpPr>
            <a:spLocks noGrp="1"/>
          </p:cNvSpPr>
          <p:nvPr>
            <p:ph type="title"/>
          </p:nvPr>
        </p:nvSpPr>
        <p:spPr>
          <a:xfrm>
            <a:off x="838200" y="365126"/>
            <a:ext cx="10515600" cy="938742"/>
          </a:xfrm>
        </p:spPr>
        <p:txBody>
          <a:bodyPr>
            <a:normAutofit/>
          </a:bodyPr>
          <a:lstStyle/>
          <a:p>
            <a:r>
              <a:rPr lang="en-US" sz="3600" b="1" dirty="0"/>
              <a:t>                                  3.Project Overview </a:t>
            </a:r>
            <a:endParaRPr lang="en-IN" sz="3600" b="1" dirty="0"/>
          </a:p>
        </p:txBody>
      </p:sp>
      <p:sp>
        <p:nvSpPr>
          <p:cNvPr id="3" name="Content Placeholder 2">
            <a:extLst>
              <a:ext uri="{FF2B5EF4-FFF2-40B4-BE49-F238E27FC236}">
                <a16:creationId xmlns:a16="http://schemas.microsoft.com/office/drawing/2014/main" id="{1E9A32ED-F124-D324-2AFD-8586CB1FFB74}"/>
              </a:ext>
            </a:extLst>
          </p:cNvPr>
          <p:cNvSpPr>
            <a:spLocks noGrp="1"/>
          </p:cNvSpPr>
          <p:nvPr>
            <p:ph idx="1"/>
          </p:nvPr>
        </p:nvSpPr>
        <p:spPr>
          <a:xfrm>
            <a:off x="397933" y="1193800"/>
            <a:ext cx="10955867" cy="5401733"/>
          </a:xfrm>
        </p:spPr>
        <p:txBody>
          <a:bodyPr>
            <a:normAutofit/>
          </a:bodyPr>
          <a:lstStyle/>
          <a:p>
            <a:r>
              <a:rPr lang="en-US" sz="2100" dirty="0"/>
              <a:t>The </a:t>
            </a:r>
            <a:r>
              <a:rPr lang="en-US" sz="2100" b="1" dirty="0"/>
              <a:t>PDF Malware Analysis</a:t>
            </a:r>
            <a:r>
              <a:rPr lang="en-US" sz="2100" dirty="0"/>
              <a:t> project focuses on identifying malicious content hidden inside PDF documents using static analysis techniques. PDF files are commonly used to share information, which makes them a popular target for attackers to spread malware through phishing emails and malicious attachments.</a:t>
            </a:r>
          </a:p>
          <a:p>
            <a:r>
              <a:rPr lang="en-US" sz="2100" dirty="0"/>
              <a:t>This project involves developing an automated toolkit using Python to safely analyze PDF files without opening them. The toolkit examines the internal structure of PDF documents to detect suspicious elements such as embedded JavaScript, hidden objects, malicious links, and other Indicators of Compromise (IOCs).</a:t>
            </a:r>
          </a:p>
          <a:p>
            <a:r>
              <a:rPr lang="en-US" sz="2100" dirty="0"/>
              <a:t>The system extracts metadata, scans for suspicious keywords, analyzes JavaScript code, and identifies URLs or IP addresses present in the PDF. Based on these findings, the tool calculates a risk score and classifies the PDF as low, medium, or high risk.</a:t>
            </a:r>
          </a:p>
          <a:p>
            <a:r>
              <a:rPr lang="en-US" sz="2100" dirty="0"/>
              <a:t>The main goal of this project is to help users and students understand how PDF-based malware works and to provide a safe method for analyzing PDF files. This project also gives practical exposure to malware analysis techniques used by cyber security professionals.</a:t>
            </a:r>
          </a:p>
          <a:p>
            <a:pPr marL="0" indent="0">
              <a:buNone/>
            </a:pPr>
            <a:endParaRPr lang="en-US" dirty="0"/>
          </a:p>
        </p:txBody>
      </p:sp>
    </p:spTree>
    <p:extLst>
      <p:ext uri="{BB962C8B-B14F-4D97-AF65-F5344CB8AC3E}">
        <p14:creationId xmlns:p14="http://schemas.microsoft.com/office/powerpoint/2010/main" val="2945882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8D296-CBE6-156F-F586-26B620811719}"/>
              </a:ext>
            </a:extLst>
          </p:cNvPr>
          <p:cNvSpPr>
            <a:spLocks noGrp="1"/>
          </p:cNvSpPr>
          <p:nvPr>
            <p:ph type="title"/>
          </p:nvPr>
        </p:nvSpPr>
        <p:spPr>
          <a:xfrm>
            <a:off x="838200" y="365125"/>
            <a:ext cx="10515600" cy="854075"/>
          </a:xfrm>
        </p:spPr>
        <p:txBody>
          <a:bodyPr>
            <a:normAutofit/>
          </a:bodyPr>
          <a:lstStyle/>
          <a:p>
            <a:r>
              <a:rPr lang="en-US" sz="3600" b="1" dirty="0"/>
              <a:t>                                4.Project Motivation</a:t>
            </a:r>
            <a:endParaRPr lang="en-IN" sz="3600" b="1" dirty="0"/>
          </a:p>
        </p:txBody>
      </p:sp>
      <p:sp>
        <p:nvSpPr>
          <p:cNvPr id="3" name="Content Placeholder 2">
            <a:extLst>
              <a:ext uri="{FF2B5EF4-FFF2-40B4-BE49-F238E27FC236}">
                <a16:creationId xmlns:a16="http://schemas.microsoft.com/office/drawing/2014/main" id="{B3FAC9BC-EE21-C17F-4EEE-224FA6A2F44D}"/>
              </a:ext>
            </a:extLst>
          </p:cNvPr>
          <p:cNvSpPr>
            <a:spLocks noGrp="1"/>
          </p:cNvSpPr>
          <p:nvPr>
            <p:ph idx="1"/>
          </p:nvPr>
        </p:nvSpPr>
        <p:spPr>
          <a:xfrm>
            <a:off x="838200" y="1286933"/>
            <a:ext cx="10515600" cy="4890030"/>
          </a:xfrm>
        </p:spPr>
        <p:txBody>
          <a:bodyPr/>
          <a:lstStyle/>
          <a:p>
            <a:pPr lvl="0"/>
            <a:r>
              <a:rPr lang="en-US" dirty="0"/>
              <a:t>Pdf files are commonly used in phishing and malware delivery.</a:t>
            </a:r>
            <a:endParaRPr lang="en-IN" dirty="0"/>
          </a:p>
          <a:p>
            <a:pPr lvl="0"/>
            <a:r>
              <a:rPr lang="en-US" dirty="0" err="1"/>
              <a:t>Analysing</a:t>
            </a:r>
            <a:r>
              <a:rPr lang="en-US" dirty="0"/>
              <a:t> PDFs helps SOC analysts detect threats early.</a:t>
            </a:r>
            <a:endParaRPr lang="en-IN" dirty="0"/>
          </a:p>
          <a:p>
            <a:pPr lvl="0"/>
            <a:r>
              <a:rPr lang="en-IN" dirty="0"/>
              <a:t>PDF files are commonly used to share documents and information.</a:t>
            </a:r>
          </a:p>
          <a:p>
            <a:pPr lvl="0"/>
            <a:r>
              <a:rPr lang="en-IN" dirty="0"/>
              <a:t>People usually trust PDF files and open them without checking.</a:t>
            </a:r>
          </a:p>
          <a:p>
            <a:pPr lvl="0"/>
            <a:r>
              <a:rPr lang="en-IN" dirty="0"/>
              <a:t>Hackers use PDF files to spread malware and viruses.</a:t>
            </a:r>
          </a:p>
          <a:p>
            <a:pPr lvl="0"/>
            <a:r>
              <a:rPr lang="en-IN" dirty="0"/>
              <a:t>Malicious PDFs are often sent through phishing emails.</a:t>
            </a:r>
          </a:p>
          <a:p>
            <a:pPr lvl="0"/>
            <a:r>
              <a:rPr lang="en-IN" dirty="0"/>
              <a:t>PDF files can contain harmful code like JavaScript or hidden links.</a:t>
            </a:r>
          </a:p>
          <a:p>
            <a:pPr lvl="0"/>
            <a:r>
              <a:rPr lang="en-IN" dirty="0"/>
              <a:t>Opening such PDFs can damage the system or steal data.</a:t>
            </a:r>
          </a:p>
          <a:p>
            <a:pPr lvl="0"/>
            <a:r>
              <a:rPr lang="en-IN" dirty="0"/>
              <a:t>Many users do not know how to check whether a PDF is safe or not.</a:t>
            </a:r>
          </a:p>
          <a:p>
            <a:endParaRPr lang="en-IN" dirty="0"/>
          </a:p>
        </p:txBody>
      </p:sp>
    </p:spTree>
    <p:extLst>
      <p:ext uri="{BB962C8B-B14F-4D97-AF65-F5344CB8AC3E}">
        <p14:creationId xmlns:p14="http://schemas.microsoft.com/office/powerpoint/2010/main" val="2556101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7F009-04E6-D5AA-F1AE-AFB17E887FFD}"/>
              </a:ext>
            </a:extLst>
          </p:cNvPr>
          <p:cNvSpPr>
            <a:spLocks noGrp="1"/>
          </p:cNvSpPr>
          <p:nvPr>
            <p:ph type="title"/>
          </p:nvPr>
        </p:nvSpPr>
        <p:spPr/>
        <p:txBody>
          <a:bodyPr>
            <a:normAutofit/>
          </a:bodyPr>
          <a:lstStyle/>
          <a:p>
            <a:r>
              <a:rPr lang="en-US" sz="3200" b="1" dirty="0"/>
              <a:t>                                      </a:t>
            </a:r>
            <a:r>
              <a:rPr lang="en-US" sz="3600" b="1" dirty="0"/>
              <a:t>5.Project Objectives</a:t>
            </a:r>
            <a:endParaRPr lang="en-IN" sz="3600" b="1" dirty="0"/>
          </a:p>
        </p:txBody>
      </p:sp>
      <p:sp>
        <p:nvSpPr>
          <p:cNvPr id="3" name="Content Placeholder 2">
            <a:extLst>
              <a:ext uri="{FF2B5EF4-FFF2-40B4-BE49-F238E27FC236}">
                <a16:creationId xmlns:a16="http://schemas.microsoft.com/office/drawing/2014/main" id="{4FC83ECD-7B3E-FA9B-F971-F5710F5988DB}"/>
              </a:ext>
            </a:extLst>
          </p:cNvPr>
          <p:cNvSpPr>
            <a:spLocks noGrp="1"/>
          </p:cNvSpPr>
          <p:nvPr>
            <p:ph idx="1"/>
          </p:nvPr>
        </p:nvSpPr>
        <p:spPr>
          <a:xfrm>
            <a:off x="838200" y="1557868"/>
            <a:ext cx="10515600" cy="4619096"/>
          </a:xfrm>
        </p:spPr>
        <p:txBody>
          <a:bodyPr>
            <a:normAutofit/>
          </a:bodyPr>
          <a:lstStyle/>
          <a:p>
            <a:pPr lvl="0"/>
            <a:r>
              <a:rPr lang="en-IN" dirty="0"/>
              <a:t> To detect suspicious keywords and JavaScript</a:t>
            </a:r>
          </a:p>
          <a:p>
            <a:r>
              <a:rPr lang="en-IN" dirty="0"/>
              <a:t> To extract URLs and IP addresses</a:t>
            </a:r>
          </a:p>
          <a:p>
            <a:pPr lvl="0"/>
            <a:r>
              <a:rPr lang="en-IN" dirty="0"/>
              <a:t>  To calculate risk score</a:t>
            </a:r>
          </a:p>
          <a:p>
            <a:pPr lvl="0"/>
            <a:r>
              <a:rPr lang="en-IN" dirty="0"/>
              <a:t>  To generate malware analysis report.</a:t>
            </a:r>
          </a:p>
          <a:p>
            <a:pPr lvl="0"/>
            <a:r>
              <a:rPr lang="en-IN" dirty="0"/>
              <a:t>To generate a malware analysis report automatically.</a:t>
            </a:r>
          </a:p>
          <a:p>
            <a:pPr lvl="0"/>
            <a:r>
              <a:rPr lang="en-IN" dirty="0"/>
              <a:t>To help users </a:t>
            </a:r>
            <a:r>
              <a:rPr lang="en-IN" dirty="0" err="1"/>
              <a:t>analyze</a:t>
            </a:r>
            <a:r>
              <a:rPr lang="en-IN" dirty="0"/>
              <a:t> PDF files safely before opening them.</a:t>
            </a:r>
          </a:p>
          <a:p>
            <a:pPr lvl="0"/>
            <a:r>
              <a:rPr lang="en-IN" dirty="0"/>
              <a:t>To improve awareness about PDF-based cyber attacks.</a:t>
            </a:r>
          </a:p>
          <a:p>
            <a:pPr lvl="0"/>
            <a:r>
              <a:rPr lang="en-IN" dirty="0"/>
              <a:t>To gain practical knowledge of malware analysis techniques.</a:t>
            </a:r>
          </a:p>
          <a:p>
            <a:pPr lvl="0"/>
            <a:r>
              <a:rPr lang="en-IN" dirty="0"/>
              <a:t>To apply Python programming skills in a real-world security project.</a:t>
            </a:r>
          </a:p>
          <a:p>
            <a:endParaRPr lang="en-IN" dirty="0"/>
          </a:p>
        </p:txBody>
      </p:sp>
    </p:spTree>
    <p:extLst>
      <p:ext uri="{BB962C8B-B14F-4D97-AF65-F5344CB8AC3E}">
        <p14:creationId xmlns:p14="http://schemas.microsoft.com/office/powerpoint/2010/main" val="704018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7999A-5113-F8AB-1AA5-98BFF35D9D5B}"/>
              </a:ext>
            </a:extLst>
          </p:cNvPr>
          <p:cNvSpPr>
            <a:spLocks noGrp="1"/>
          </p:cNvSpPr>
          <p:nvPr>
            <p:ph type="title"/>
          </p:nvPr>
        </p:nvSpPr>
        <p:spPr>
          <a:xfrm>
            <a:off x="838200" y="365125"/>
            <a:ext cx="10515600" cy="1023407"/>
          </a:xfrm>
        </p:spPr>
        <p:txBody>
          <a:bodyPr>
            <a:normAutofit fontScale="90000"/>
          </a:bodyPr>
          <a:lstStyle/>
          <a:p>
            <a:r>
              <a:rPr lang="en-US" b="1" dirty="0"/>
              <a:t>                   </a:t>
            </a:r>
            <a:r>
              <a:rPr lang="en-US" sz="4000" b="1" dirty="0"/>
              <a:t>6.PRATICAL SCOPE OFTHE PROJECT</a:t>
            </a:r>
            <a:r>
              <a:rPr lang="en-US" b="1" dirty="0"/>
              <a:t>.</a:t>
            </a:r>
            <a:br>
              <a:rPr lang="en-IN" dirty="0"/>
            </a:br>
            <a:r>
              <a:rPr lang="en-US" b="1" dirty="0"/>
              <a:t> </a:t>
            </a:r>
            <a:endParaRPr lang="en-IN" dirty="0"/>
          </a:p>
        </p:txBody>
      </p:sp>
      <p:sp>
        <p:nvSpPr>
          <p:cNvPr id="3" name="Content Placeholder 2">
            <a:extLst>
              <a:ext uri="{FF2B5EF4-FFF2-40B4-BE49-F238E27FC236}">
                <a16:creationId xmlns:a16="http://schemas.microsoft.com/office/drawing/2014/main" id="{45D31C20-D8E8-9976-3B41-AAB7827D6B08}"/>
              </a:ext>
            </a:extLst>
          </p:cNvPr>
          <p:cNvSpPr>
            <a:spLocks noGrp="1"/>
          </p:cNvSpPr>
          <p:nvPr>
            <p:ph idx="1"/>
          </p:nvPr>
        </p:nvSpPr>
        <p:spPr>
          <a:xfrm>
            <a:off x="567267" y="876828"/>
            <a:ext cx="10515600" cy="5701771"/>
          </a:xfrm>
        </p:spPr>
        <p:txBody>
          <a:bodyPr>
            <a:normAutofit/>
          </a:bodyPr>
          <a:lstStyle/>
          <a:p>
            <a:r>
              <a:rPr lang="en-US" sz="2100" dirty="0"/>
              <a:t>The project focuses on </a:t>
            </a:r>
            <a:r>
              <a:rPr lang="en-US" sz="2100" b="1" dirty="0"/>
              <a:t>static analysis of PDF files</a:t>
            </a:r>
            <a:r>
              <a:rPr lang="en-US" sz="2100" dirty="0"/>
              <a:t>.</a:t>
            </a:r>
          </a:p>
          <a:p>
            <a:r>
              <a:rPr lang="en-US" sz="2100" dirty="0"/>
              <a:t>It analyzes PDF documents </a:t>
            </a:r>
            <a:r>
              <a:rPr lang="en-US" sz="2100" b="1" dirty="0"/>
              <a:t>without opening or executing them</a:t>
            </a:r>
            <a:r>
              <a:rPr lang="en-US" sz="2100" dirty="0"/>
              <a:t>.</a:t>
            </a:r>
          </a:p>
          <a:p>
            <a:r>
              <a:rPr lang="en-US" sz="2100" dirty="0"/>
              <a:t>It performs </a:t>
            </a:r>
            <a:r>
              <a:rPr lang="en-US" sz="2100" b="1" dirty="0"/>
              <a:t>metadata extraction</a:t>
            </a:r>
            <a:r>
              <a:rPr lang="en-US" sz="2100" dirty="0"/>
              <a:t> to gather file information.</a:t>
            </a:r>
          </a:p>
          <a:p>
            <a:r>
              <a:rPr lang="en-US" sz="2100" dirty="0"/>
              <a:t>It uses </a:t>
            </a:r>
            <a:r>
              <a:rPr lang="en-US" sz="2100" b="1" dirty="0"/>
              <a:t>keyword-based detection</a:t>
            </a:r>
            <a:r>
              <a:rPr lang="en-US" sz="2100" dirty="0"/>
              <a:t> to identify suspicious elements.</a:t>
            </a:r>
          </a:p>
          <a:p>
            <a:r>
              <a:rPr lang="en-US" sz="2100" dirty="0"/>
              <a:t>It analyzes </a:t>
            </a:r>
            <a:r>
              <a:rPr lang="en-US" sz="2100" b="1" dirty="0"/>
              <a:t>embedded JavaScript</a:t>
            </a:r>
            <a:r>
              <a:rPr lang="en-US" sz="2100" dirty="0"/>
              <a:t> present in PDF files.</a:t>
            </a:r>
          </a:p>
          <a:p>
            <a:r>
              <a:rPr lang="en-US" sz="2100" dirty="0"/>
              <a:t>It extracts </a:t>
            </a:r>
            <a:r>
              <a:rPr lang="en-US" sz="2100" b="1" dirty="0"/>
              <a:t>Indicators of Compromise (IOCs)</a:t>
            </a:r>
            <a:r>
              <a:rPr lang="en-US" sz="2100" dirty="0"/>
              <a:t> such as URLs and IP addresses.</a:t>
            </a:r>
          </a:p>
          <a:p>
            <a:r>
              <a:rPr lang="en-US" sz="2100" dirty="0"/>
              <a:t>It detects </a:t>
            </a:r>
            <a:r>
              <a:rPr lang="en-US" sz="2100" b="1" dirty="0"/>
              <a:t>embedded objects and hidden content</a:t>
            </a:r>
            <a:r>
              <a:rPr lang="en-US" sz="2100" dirty="0"/>
              <a:t> in PDFs.</a:t>
            </a:r>
          </a:p>
          <a:p>
            <a:r>
              <a:rPr lang="en-US" sz="2100" dirty="0"/>
              <a:t>It performs </a:t>
            </a:r>
            <a:r>
              <a:rPr lang="en-US" sz="2100" b="1" dirty="0"/>
              <a:t>risk assessment</a:t>
            </a:r>
            <a:r>
              <a:rPr lang="en-US" sz="2100" dirty="0"/>
              <a:t> based on detected threats.</a:t>
            </a:r>
          </a:p>
          <a:p>
            <a:r>
              <a:rPr lang="en-US" sz="2100" dirty="0"/>
              <a:t>It classifies PDF files as </a:t>
            </a:r>
            <a:r>
              <a:rPr lang="en-US" sz="2100" b="1" dirty="0"/>
              <a:t>Low, Medium, or High risk</a:t>
            </a:r>
            <a:r>
              <a:rPr lang="en-US" sz="2100" dirty="0"/>
              <a:t>.</a:t>
            </a:r>
          </a:p>
          <a:p>
            <a:r>
              <a:rPr lang="en-US" sz="2100" dirty="0"/>
              <a:t>It generates a </a:t>
            </a:r>
            <a:r>
              <a:rPr lang="en-US" sz="2100" b="1" dirty="0"/>
              <a:t>basic malware analysis report</a:t>
            </a:r>
            <a:r>
              <a:rPr lang="en-US" sz="2100" dirty="0"/>
              <a:t>.</a:t>
            </a:r>
          </a:p>
          <a:p>
            <a:r>
              <a:rPr lang="en-US" sz="2100" dirty="0"/>
              <a:t>The project is suitable for </a:t>
            </a:r>
            <a:r>
              <a:rPr lang="en-US" sz="2100" b="1" dirty="0"/>
              <a:t>educational and learning purposes</a:t>
            </a:r>
            <a:r>
              <a:rPr lang="en-US" sz="2100" dirty="0"/>
              <a:t>.</a:t>
            </a:r>
          </a:p>
          <a:p>
            <a:r>
              <a:rPr lang="en-US" sz="2100" dirty="0"/>
              <a:t>It helps users understand </a:t>
            </a:r>
            <a:r>
              <a:rPr lang="en-US" sz="2100" b="1" dirty="0"/>
              <a:t>PDF-based cyber attacks</a:t>
            </a:r>
            <a:r>
              <a:rPr lang="en-US" sz="2100" dirty="0"/>
              <a:t>.</a:t>
            </a:r>
          </a:p>
          <a:p>
            <a:pPr marL="0" indent="0">
              <a:buNone/>
            </a:pPr>
            <a:endParaRPr lang="en-IN" dirty="0"/>
          </a:p>
        </p:txBody>
      </p:sp>
    </p:spTree>
    <p:extLst>
      <p:ext uri="{BB962C8B-B14F-4D97-AF65-F5344CB8AC3E}">
        <p14:creationId xmlns:p14="http://schemas.microsoft.com/office/powerpoint/2010/main" val="3302897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A73F-5D84-E790-065A-B33965966655}"/>
              </a:ext>
            </a:extLst>
          </p:cNvPr>
          <p:cNvSpPr>
            <a:spLocks noGrp="1"/>
          </p:cNvSpPr>
          <p:nvPr>
            <p:ph type="title"/>
          </p:nvPr>
        </p:nvSpPr>
        <p:spPr>
          <a:xfrm>
            <a:off x="838200" y="365126"/>
            <a:ext cx="10515600" cy="811742"/>
          </a:xfrm>
        </p:spPr>
        <p:txBody>
          <a:bodyPr>
            <a:normAutofit/>
          </a:bodyPr>
          <a:lstStyle/>
          <a:p>
            <a:r>
              <a:rPr lang="en-IN" sz="3600" b="1" dirty="0"/>
              <a:t>                         7. Tools &amp; Technologies Used</a:t>
            </a:r>
          </a:p>
        </p:txBody>
      </p:sp>
      <p:sp>
        <p:nvSpPr>
          <p:cNvPr id="3" name="Content Placeholder 2">
            <a:extLst>
              <a:ext uri="{FF2B5EF4-FFF2-40B4-BE49-F238E27FC236}">
                <a16:creationId xmlns:a16="http://schemas.microsoft.com/office/drawing/2014/main" id="{F17543DB-2768-14E0-55D7-B85E8973E660}"/>
              </a:ext>
            </a:extLst>
          </p:cNvPr>
          <p:cNvSpPr>
            <a:spLocks noGrp="1"/>
          </p:cNvSpPr>
          <p:nvPr>
            <p:ph idx="1"/>
          </p:nvPr>
        </p:nvSpPr>
        <p:spPr>
          <a:xfrm>
            <a:off x="838200" y="1286933"/>
            <a:ext cx="10515600" cy="4890030"/>
          </a:xfrm>
        </p:spPr>
        <p:txBody>
          <a:bodyPr/>
          <a:lstStyle/>
          <a:p>
            <a:pPr marL="0" indent="0">
              <a:buNone/>
            </a:pPr>
            <a:r>
              <a:rPr lang="en-IN" dirty="0"/>
              <a:t> </a:t>
            </a:r>
            <a:endParaRPr lang="en-IN" sz="1600" dirty="0"/>
          </a:p>
          <a:p>
            <a:pPr lvl="3"/>
            <a:r>
              <a:rPr lang="en-IN" sz="2800" dirty="0"/>
              <a:t>Programming Language: </a:t>
            </a:r>
            <a:r>
              <a:rPr lang="en-IN" sz="2800" b="1" dirty="0"/>
              <a:t>Python</a:t>
            </a:r>
            <a:endParaRPr lang="en-IN" sz="2800" dirty="0"/>
          </a:p>
          <a:p>
            <a:pPr lvl="3"/>
            <a:r>
              <a:rPr lang="en-IN" sz="2800" dirty="0"/>
              <a:t>Libraries: </a:t>
            </a:r>
            <a:r>
              <a:rPr lang="en-IN" sz="2800" b="1" dirty="0"/>
              <a:t>PyPDF2</a:t>
            </a:r>
            <a:endParaRPr lang="en-IN" sz="2800" dirty="0"/>
          </a:p>
          <a:p>
            <a:pPr lvl="3"/>
            <a:r>
              <a:rPr lang="en-IN" sz="2800" dirty="0"/>
              <a:t>OS: Windows / Linux</a:t>
            </a:r>
          </a:p>
          <a:p>
            <a:pPr lvl="3"/>
            <a:r>
              <a:rPr lang="en-IN" sz="2800" dirty="0"/>
              <a:t>Editor: VS Code</a:t>
            </a:r>
          </a:p>
          <a:p>
            <a:endParaRPr lang="en-IN" dirty="0"/>
          </a:p>
          <a:p>
            <a:endParaRPr lang="en-IN" dirty="0"/>
          </a:p>
        </p:txBody>
      </p:sp>
    </p:spTree>
    <p:extLst>
      <p:ext uri="{BB962C8B-B14F-4D97-AF65-F5344CB8AC3E}">
        <p14:creationId xmlns:p14="http://schemas.microsoft.com/office/powerpoint/2010/main" val="2804460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BFFA2-B468-8D4D-6734-C6FD7693048C}"/>
              </a:ext>
            </a:extLst>
          </p:cNvPr>
          <p:cNvSpPr>
            <a:spLocks noGrp="1"/>
          </p:cNvSpPr>
          <p:nvPr>
            <p:ph type="title"/>
          </p:nvPr>
        </p:nvSpPr>
        <p:spPr>
          <a:xfrm>
            <a:off x="838200" y="152400"/>
            <a:ext cx="10515600" cy="795867"/>
          </a:xfrm>
        </p:spPr>
        <p:txBody>
          <a:bodyPr>
            <a:normAutofit/>
          </a:bodyPr>
          <a:lstStyle/>
          <a:p>
            <a:r>
              <a:rPr lang="en-US" sz="3600" b="1" dirty="0"/>
              <a:t>                             8.System Requirement</a:t>
            </a:r>
            <a:endParaRPr lang="en-IN" sz="3600" b="1" dirty="0"/>
          </a:p>
        </p:txBody>
      </p:sp>
      <p:sp>
        <p:nvSpPr>
          <p:cNvPr id="3" name="Content Placeholder 2">
            <a:extLst>
              <a:ext uri="{FF2B5EF4-FFF2-40B4-BE49-F238E27FC236}">
                <a16:creationId xmlns:a16="http://schemas.microsoft.com/office/drawing/2014/main" id="{E6953861-72DA-F2BC-7F95-62894762FBA7}"/>
              </a:ext>
            </a:extLst>
          </p:cNvPr>
          <p:cNvSpPr>
            <a:spLocks noGrp="1"/>
          </p:cNvSpPr>
          <p:nvPr>
            <p:ph idx="1"/>
          </p:nvPr>
        </p:nvSpPr>
        <p:spPr>
          <a:xfrm>
            <a:off x="770467" y="948267"/>
            <a:ext cx="10583333" cy="5604934"/>
          </a:xfrm>
        </p:spPr>
        <p:txBody>
          <a:bodyPr>
            <a:normAutofit/>
          </a:bodyPr>
          <a:lstStyle/>
          <a:p>
            <a:r>
              <a:rPr lang="en-IN" sz="1900" b="1" dirty="0"/>
              <a:t>Hardware Requirements</a:t>
            </a:r>
          </a:p>
          <a:p>
            <a:r>
              <a:rPr lang="en-IN" sz="1900" dirty="0"/>
              <a:t>Processor: Intel i3 or higher</a:t>
            </a:r>
          </a:p>
          <a:p>
            <a:r>
              <a:rPr lang="en-IN" sz="1900" dirty="0"/>
              <a:t>RAM: Minimum 4 GB</a:t>
            </a:r>
          </a:p>
          <a:p>
            <a:r>
              <a:rPr lang="en-IN" sz="1900" dirty="0"/>
              <a:t>Hard Disk: 10 GB free space</a:t>
            </a:r>
          </a:p>
          <a:p>
            <a:r>
              <a:rPr lang="en-IN" sz="1900" dirty="0"/>
              <a:t>Keyboard and Mouse</a:t>
            </a:r>
          </a:p>
          <a:p>
            <a:r>
              <a:rPr lang="en-IN" sz="1900" dirty="0"/>
              <a:t>Monitor</a:t>
            </a:r>
          </a:p>
          <a:p>
            <a:pPr marL="0" indent="0">
              <a:buNone/>
            </a:pPr>
            <a:br>
              <a:rPr lang="en-IN" sz="1900" dirty="0"/>
            </a:br>
            <a:endParaRPr lang="en-IN" sz="1900" dirty="0"/>
          </a:p>
          <a:p>
            <a:r>
              <a:rPr lang="en-IN" sz="1900" b="1" dirty="0"/>
              <a:t>Software Requirements</a:t>
            </a:r>
          </a:p>
          <a:p>
            <a:r>
              <a:rPr lang="en-IN" sz="1900" dirty="0"/>
              <a:t>Operating System:  Windows 11 / Linux</a:t>
            </a:r>
          </a:p>
          <a:p>
            <a:r>
              <a:rPr lang="en-IN" sz="1900" dirty="0"/>
              <a:t>Programming Language: Python 3.x</a:t>
            </a:r>
          </a:p>
          <a:p>
            <a:r>
              <a:rPr lang="en-IN" sz="1900" dirty="0"/>
              <a:t>Python Libraries: PyPDF2</a:t>
            </a:r>
          </a:p>
          <a:p>
            <a:r>
              <a:rPr lang="en-IN" sz="1900" dirty="0"/>
              <a:t>Code Editor:  IDLE</a:t>
            </a:r>
          </a:p>
          <a:p>
            <a:r>
              <a:rPr lang="en-IN" sz="1900" dirty="0"/>
              <a:t>Command Line Interface: Command Prompt / Terminal</a:t>
            </a:r>
          </a:p>
          <a:p>
            <a:endParaRPr lang="en-IN" dirty="0"/>
          </a:p>
        </p:txBody>
      </p:sp>
    </p:spTree>
    <p:extLst>
      <p:ext uri="{BB962C8B-B14F-4D97-AF65-F5344CB8AC3E}">
        <p14:creationId xmlns:p14="http://schemas.microsoft.com/office/powerpoint/2010/main" val="1042874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900AC-0EE9-3F30-838A-A2314B110E66}"/>
              </a:ext>
            </a:extLst>
          </p:cNvPr>
          <p:cNvSpPr>
            <a:spLocks noGrp="1"/>
          </p:cNvSpPr>
          <p:nvPr>
            <p:ph type="title"/>
          </p:nvPr>
        </p:nvSpPr>
        <p:spPr>
          <a:xfrm>
            <a:off x="838200" y="365126"/>
            <a:ext cx="10515600" cy="938742"/>
          </a:xfrm>
        </p:spPr>
        <p:txBody>
          <a:bodyPr>
            <a:normAutofit/>
          </a:bodyPr>
          <a:lstStyle/>
          <a:p>
            <a:r>
              <a:rPr lang="en-US" sz="3600" b="1" dirty="0"/>
              <a:t>                             9.Workflow/Architecture</a:t>
            </a:r>
            <a:endParaRPr lang="en-IN" sz="3600" b="1" dirty="0"/>
          </a:p>
        </p:txBody>
      </p:sp>
      <p:sp>
        <p:nvSpPr>
          <p:cNvPr id="3" name="Content Placeholder 2">
            <a:extLst>
              <a:ext uri="{FF2B5EF4-FFF2-40B4-BE49-F238E27FC236}">
                <a16:creationId xmlns:a16="http://schemas.microsoft.com/office/drawing/2014/main" id="{640F70A2-A12F-FBCD-7579-232F18E26D14}"/>
              </a:ext>
            </a:extLst>
          </p:cNvPr>
          <p:cNvSpPr>
            <a:spLocks noGrp="1"/>
          </p:cNvSpPr>
          <p:nvPr>
            <p:ph idx="1"/>
          </p:nvPr>
        </p:nvSpPr>
        <p:spPr>
          <a:xfrm>
            <a:off x="626533" y="1168400"/>
            <a:ext cx="10515600" cy="5444066"/>
          </a:xfrm>
        </p:spPr>
        <p:txBody>
          <a:bodyPr>
            <a:normAutofit fontScale="62500" lnSpcReduction="20000"/>
          </a:bodyPr>
          <a:lstStyle/>
          <a:p>
            <a:r>
              <a:rPr lang="en-IN" dirty="0"/>
              <a:t>START</a:t>
            </a:r>
          </a:p>
          <a:p>
            <a:r>
              <a:rPr lang="en-IN" dirty="0"/>
              <a:t> ↓</a:t>
            </a:r>
          </a:p>
          <a:p>
            <a:r>
              <a:rPr lang="en-IN" dirty="0"/>
              <a:t>Load PDF File</a:t>
            </a:r>
          </a:p>
          <a:p>
            <a:r>
              <a:rPr lang="en-IN" dirty="0"/>
              <a:t> ↓</a:t>
            </a:r>
          </a:p>
          <a:p>
            <a:r>
              <a:rPr lang="en-IN" dirty="0"/>
              <a:t>Extract Metadata</a:t>
            </a:r>
          </a:p>
          <a:p>
            <a:r>
              <a:rPr lang="en-IN" dirty="0"/>
              <a:t> ↓</a:t>
            </a:r>
          </a:p>
          <a:p>
            <a:r>
              <a:rPr lang="en-IN" dirty="0"/>
              <a:t>Scan for Suspicious Keywords</a:t>
            </a:r>
          </a:p>
          <a:p>
            <a:r>
              <a:rPr lang="en-IN" dirty="0"/>
              <a:t> ↓</a:t>
            </a:r>
          </a:p>
          <a:p>
            <a:r>
              <a:rPr lang="en-IN" dirty="0" err="1"/>
              <a:t>Analyze</a:t>
            </a:r>
            <a:r>
              <a:rPr lang="en-IN" dirty="0"/>
              <a:t> JavaScript</a:t>
            </a:r>
          </a:p>
          <a:p>
            <a:r>
              <a:rPr lang="en-IN" dirty="0"/>
              <a:t> ↓</a:t>
            </a:r>
          </a:p>
          <a:p>
            <a:r>
              <a:rPr lang="en-IN" dirty="0"/>
              <a:t>Extract URLs &amp; IPs</a:t>
            </a:r>
          </a:p>
          <a:p>
            <a:r>
              <a:rPr lang="en-IN" dirty="0"/>
              <a:t> ↓</a:t>
            </a:r>
          </a:p>
          <a:p>
            <a:r>
              <a:rPr lang="en-IN" dirty="0"/>
              <a:t>Risk Scoring</a:t>
            </a:r>
          </a:p>
          <a:p>
            <a:r>
              <a:rPr lang="en-IN" dirty="0"/>
              <a:t> ↓</a:t>
            </a:r>
          </a:p>
          <a:p>
            <a:r>
              <a:rPr lang="en-IN" dirty="0"/>
              <a:t>Generate Malware Analysis Report</a:t>
            </a:r>
          </a:p>
          <a:p>
            <a:r>
              <a:rPr lang="en-IN" dirty="0"/>
              <a:t> ↓</a:t>
            </a:r>
          </a:p>
          <a:p>
            <a:r>
              <a:rPr lang="en-IN" dirty="0"/>
              <a:t>END</a:t>
            </a:r>
          </a:p>
        </p:txBody>
      </p:sp>
    </p:spTree>
    <p:extLst>
      <p:ext uri="{BB962C8B-B14F-4D97-AF65-F5344CB8AC3E}">
        <p14:creationId xmlns:p14="http://schemas.microsoft.com/office/powerpoint/2010/main" val="2920513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5786A-0E4E-B16A-BC39-FB41D730A6BB}"/>
              </a:ext>
            </a:extLst>
          </p:cNvPr>
          <p:cNvSpPr>
            <a:spLocks noGrp="1"/>
          </p:cNvSpPr>
          <p:nvPr>
            <p:ph type="title"/>
          </p:nvPr>
        </p:nvSpPr>
        <p:spPr>
          <a:xfrm>
            <a:off x="838200" y="1"/>
            <a:ext cx="10515600" cy="787399"/>
          </a:xfrm>
        </p:spPr>
        <p:txBody>
          <a:bodyPr/>
          <a:lstStyle/>
          <a:p>
            <a:r>
              <a:rPr lang="en-US" b="1" dirty="0"/>
              <a:t>                     10.EXPECTED OUTPUT.</a:t>
            </a:r>
            <a:endParaRPr lang="en-IN" dirty="0"/>
          </a:p>
        </p:txBody>
      </p:sp>
      <p:pic>
        <p:nvPicPr>
          <p:cNvPr id="5" name="Content Placeholder 4">
            <a:extLst>
              <a:ext uri="{FF2B5EF4-FFF2-40B4-BE49-F238E27FC236}">
                <a16:creationId xmlns:a16="http://schemas.microsoft.com/office/drawing/2014/main" id="{EAE9A5EF-2CAF-471D-62EC-D495387630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199" y="787400"/>
            <a:ext cx="11116733" cy="5977467"/>
          </a:xfrm>
        </p:spPr>
      </p:pic>
    </p:spTree>
    <p:extLst>
      <p:ext uri="{BB962C8B-B14F-4D97-AF65-F5344CB8AC3E}">
        <p14:creationId xmlns:p14="http://schemas.microsoft.com/office/powerpoint/2010/main" val="2565709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4E5E5-C8B4-9977-7650-21368B9D9375}"/>
              </a:ext>
            </a:extLst>
          </p:cNvPr>
          <p:cNvSpPr>
            <a:spLocks noGrp="1"/>
          </p:cNvSpPr>
          <p:nvPr>
            <p:ph type="title"/>
          </p:nvPr>
        </p:nvSpPr>
        <p:spPr>
          <a:xfrm>
            <a:off x="838200" y="365126"/>
            <a:ext cx="10515600" cy="633942"/>
          </a:xfrm>
        </p:spPr>
        <p:txBody>
          <a:bodyPr>
            <a:normAutofit/>
          </a:bodyPr>
          <a:lstStyle/>
          <a:p>
            <a:r>
              <a:rPr lang="en-US" sz="3600" b="1" dirty="0"/>
              <a:t>                                      11.Conclusion</a:t>
            </a:r>
            <a:endParaRPr lang="en-IN" sz="3600" b="1" dirty="0"/>
          </a:p>
        </p:txBody>
      </p:sp>
      <p:sp>
        <p:nvSpPr>
          <p:cNvPr id="5" name="Content Placeholder 4">
            <a:extLst>
              <a:ext uri="{FF2B5EF4-FFF2-40B4-BE49-F238E27FC236}">
                <a16:creationId xmlns:a16="http://schemas.microsoft.com/office/drawing/2014/main" id="{AB5DC155-6A0E-B6B0-F481-8E4E45F616EC}"/>
              </a:ext>
            </a:extLst>
          </p:cNvPr>
          <p:cNvSpPr>
            <a:spLocks noGrp="1"/>
          </p:cNvSpPr>
          <p:nvPr>
            <p:ph idx="1"/>
          </p:nvPr>
        </p:nvSpPr>
        <p:spPr>
          <a:xfrm>
            <a:off x="321733" y="1184275"/>
            <a:ext cx="10515600" cy="5308600"/>
          </a:xfrm>
        </p:spPr>
        <p:txBody>
          <a:bodyPr>
            <a:normAutofit/>
          </a:bodyPr>
          <a:lstStyle/>
          <a:p>
            <a:r>
              <a:rPr lang="en-US" sz="1800" dirty="0"/>
              <a:t>The PDF Malware Analysis project successfully demonstrates how malicious content can be detected inside PDF files using static analysis techniques. The developed system analyzes PDF documents without opening them, which helps in preventing potential security threats.</a:t>
            </a:r>
          </a:p>
          <a:p>
            <a:r>
              <a:rPr lang="en-US" sz="1800" dirty="0"/>
              <a:t>This project identifies suspicious elements such as embedded JavaScript, hidden links, and malicious keywords. It also extracts Indicators of Compromise (IOCs) like URLs and IP addresses and calculates a risk score to classify PDF files as low, medium, or high risk.</a:t>
            </a:r>
          </a:p>
          <a:p>
            <a:r>
              <a:rPr lang="en-US" sz="1800" dirty="0"/>
              <a:t>Through this project, a basic automated PDF malware analysis toolkit was developed using Python. The project provides practical knowledge of malware analysis and improves awareness about PDF-based cyber attacks. Overall, this project is useful for educational purposes and helps users analyze PDF files safely</a:t>
            </a:r>
          </a:p>
          <a:p>
            <a:r>
              <a:rPr lang="en-US" sz="1900" dirty="0"/>
              <a:t>This project provides hands-on experience in malware analysis and Python programming. It helps in understanding how attackers hide malicious code inside documents and how security analysts detect such threats. The automated toolkit developed in this project can be used as a learning tool for students and beginners in cyber security.</a:t>
            </a:r>
          </a:p>
          <a:p>
            <a:r>
              <a:rPr lang="en-US" sz="1900" dirty="0"/>
              <a:t>Overall, the project improves awareness about PDF-based cyber attacks and demonstrates the importance of document security. It successfully meets its objectives and provides a foundation for further enhancements in advanced malware detection techniques.</a:t>
            </a:r>
          </a:p>
          <a:p>
            <a:endParaRPr lang="en-IN" dirty="0"/>
          </a:p>
        </p:txBody>
      </p:sp>
    </p:spTree>
    <p:extLst>
      <p:ext uri="{BB962C8B-B14F-4D97-AF65-F5344CB8AC3E}">
        <p14:creationId xmlns:p14="http://schemas.microsoft.com/office/powerpoint/2010/main" val="21331991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1154</Words>
  <Application>Microsoft Office PowerPoint</Application>
  <PresentationFormat>Widescreen</PresentationFormat>
  <Paragraphs>97</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1.TITLE.</vt:lpstr>
      <vt:lpstr>                         2.Introduction</vt:lpstr>
      <vt:lpstr>                                  3.Project Overview </vt:lpstr>
      <vt:lpstr>                                4.Project Motivation</vt:lpstr>
      <vt:lpstr>                                      5.Project Objectives</vt:lpstr>
      <vt:lpstr>                   6.PRATICAL SCOPE OFTHE PROJECT.  </vt:lpstr>
      <vt:lpstr>                         7. Tools &amp; Technologies Used</vt:lpstr>
      <vt:lpstr>                             8.System Requirement</vt:lpstr>
      <vt:lpstr>                             9.Workflow/Architecture</vt:lpstr>
      <vt:lpstr>                     10.EXPECTED OUTPUT.</vt:lpstr>
      <vt:lpstr>                                      11.Conclusion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Sanjana Kamble</dc:creator>
  <cp:lastModifiedBy>Sanjana Kamble</cp:lastModifiedBy>
  <cp:revision>1</cp:revision>
  <dcterms:created xsi:type="dcterms:W3CDTF">2026-02-05T16:33:12Z</dcterms:created>
  <dcterms:modified xsi:type="dcterms:W3CDTF">2026-02-09T14:49:39Z</dcterms:modified>
</cp:coreProperties>
</file>