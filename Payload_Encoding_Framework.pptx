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5"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8292559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841929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122429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34AA58-CE60-4B53-8045-DBE5B16BF4B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70632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34AA58-CE60-4B53-8045-DBE5B16BF4B5}"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566398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34AA58-CE60-4B53-8045-DBE5B16BF4B5}" type="datetimeFigureOut">
              <a:rPr lang="en-IN" smtClean="0"/>
              <a:t>22-02-2026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127233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634AA58-CE60-4B53-8045-DBE5B16BF4B5}" type="datetimeFigureOut">
              <a:rPr lang="en-IN" smtClean="0"/>
              <a:t>22-02-2026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1235351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AA58-CE60-4B53-8045-DBE5B16BF4B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3243711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AA58-CE60-4B53-8045-DBE5B16BF4B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328297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AA58-CE60-4B53-8045-DBE5B16BF4B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711263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356895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303633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3037006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326019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2602351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7388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4AA58-CE60-4B53-8045-DBE5B16BF4B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62FB24-A52C-47EA-8796-4037CDA819C9}" type="slidenum">
              <a:rPr lang="en-IN" smtClean="0"/>
              <a:t>‹#›</a:t>
            </a:fld>
            <a:endParaRPr lang="en-IN"/>
          </a:p>
        </p:txBody>
      </p:sp>
    </p:spTree>
    <p:extLst>
      <p:ext uri="{BB962C8B-B14F-4D97-AF65-F5344CB8AC3E}">
        <p14:creationId xmlns:p14="http://schemas.microsoft.com/office/powerpoint/2010/main" val="1678175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634AA58-CE60-4B53-8045-DBE5B16BF4B5}" type="datetimeFigureOut">
              <a:rPr lang="en-IN" smtClean="0"/>
              <a:t>22-02-2026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62FB24-A52C-47EA-8796-4037CDA819C9}" type="slidenum">
              <a:rPr lang="en-IN" smtClean="0"/>
              <a:t>‹#›</a:t>
            </a:fld>
            <a:endParaRPr lang="en-IN"/>
          </a:p>
        </p:txBody>
      </p:sp>
    </p:spTree>
    <p:extLst>
      <p:ext uri="{BB962C8B-B14F-4D97-AF65-F5344CB8AC3E}">
        <p14:creationId xmlns:p14="http://schemas.microsoft.com/office/powerpoint/2010/main" val="14535183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574D-01DB-D62D-709B-1B0C76950158}"/>
              </a:ext>
            </a:extLst>
          </p:cNvPr>
          <p:cNvSpPr>
            <a:spLocks noGrp="1"/>
          </p:cNvSpPr>
          <p:nvPr>
            <p:ph type="title"/>
          </p:nvPr>
        </p:nvSpPr>
        <p:spPr>
          <a:xfrm>
            <a:off x="685801" y="609600"/>
            <a:ext cx="10131425" cy="948267"/>
          </a:xfrm>
        </p:spPr>
        <p:txBody>
          <a:bodyPr/>
          <a:lstStyle/>
          <a:p>
            <a:r>
              <a:rPr lang="en-US" dirty="0"/>
              <a:t>                                            TITLE</a:t>
            </a:r>
            <a:endParaRPr lang="en-IN" dirty="0"/>
          </a:p>
        </p:txBody>
      </p:sp>
      <p:sp>
        <p:nvSpPr>
          <p:cNvPr id="3" name="Content Placeholder 2">
            <a:extLst>
              <a:ext uri="{FF2B5EF4-FFF2-40B4-BE49-F238E27FC236}">
                <a16:creationId xmlns:a16="http://schemas.microsoft.com/office/drawing/2014/main" id="{826D136B-A2DD-EFAF-6CC1-6175DB29CBDA}"/>
              </a:ext>
            </a:extLst>
          </p:cNvPr>
          <p:cNvSpPr>
            <a:spLocks noGrp="1"/>
          </p:cNvSpPr>
          <p:nvPr>
            <p:ph idx="1"/>
          </p:nvPr>
        </p:nvSpPr>
        <p:spPr/>
        <p:txBody>
          <a:bodyPr/>
          <a:lstStyle/>
          <a:p>
            <a:r>
              <a:rPr lang="en-US" b="1" dirty="0"/>
              <a:t>NAME:SANJANA SUBHASH KAMBLE</a:t>
            </a:r>
          </a:p>
          <a:p>
            <a:r>
              <a:rPr lang="en-US" b="1" dirty="0"/>
              <a:t>COLLEGE NAME:ABASAHEB GARWARE COLLEGE</a:t>
            </a:r>
          </a:p>
          <a:p>
            <a:r>
              <a:rPr lang="en-US" b="1" dirty="0" err="1"/>
              <a:t>PROJECT:Payload_Encoding_Framework</a:t>
            </a:r>
            <a:endParaRPr lang="en-US" altLang="en-US" b="1" dirty="0"/>
          </a:p>
          <a:p>
            <a:r>
              <a:rPr lang="en-US" b="1" dirty="0"/>
              <a:t>SUBJECT-CYBERSECURITY</a:t>
            </a:r>
          </a:p>
          <a:p>
            <a:r>
              <a:rPr lang="en-US" b="1" dirty="0"/>
              <a:t>TYBSC-COMPUTER SCIENCE</a:t>
            </a:r>
          </a:p>
          <a:p>
            <a:r>
              <a:rPr lang="en-US" b="1" dirty="0"/>
              <a:t>ROLLNO:13389</a:t>
            </a:r>
            <a:endParaRPr lang="en-IN" b="1" dirty="0"/>
          </a:p>
          <a:p>
            <a:r>
              <a:rPr lang="en-IN" b="1" dirty="0"/>
              <a:t>ACADEMIC YEAR:2025-2026</a:t>
            </a:r>
            <a:endParaRPr lang="en-US" b="1" dirty="0"/>
          </a:p>
          <a:p>
            <a:endParaRPr lang="en-IN" dirty="0"/>
          </a:p>
        </p:txBody>
      </p:sp>
    </p:spTree>
    <p:extLst>
      <p:ext uri="{BB962C8B-B14F-4D97-AF65-F5344CB8AC3E}">
        <p14:creationId xmlns:p14="http://schemas.microsoft.com/office/powerpoint/2010/main" val="108757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BC42F-47C5-FBDC-794E-E9417DDF4CF4}"/>
              </a:ext>
            </a:extLst>
          </p:cNvPr>
          <p:cNvSpPr>
            <a:spLocks noGrp="1"/>
          </p:cNvSpPr>
          <p:nvPr>
            <p:ph type="ctrTitle"/>
          </p:nvPr>
        </p:nvSpPr>
        <p:spPr>
          <a:xfrm>
            <a:off x="1524000" y="186266"/>
            <a:ext cx="9144000" cy="753533"/>
          </a:xfrm>
        </p:spPr>
        <p:txBody>
          <a:bodyPr>
            <a:normAutofit fontScale="90000"/>
          </a:bodyPr>
          <a:lstStyle/>
          <a:p>
            <a:r>
              <a:rPr lang="en-US" dirty="0"/>
              <a:t>index</a:t>
            </a:r>
            <a:endParaRPr lang="en-IN" dirty="0"/>
          </a:p>
        </p:txBody>
      </p:sp>
      <p:sp>
        <p:nvSpPr>
          <p:cNvPr id="3" name="Subtitle 2">
            <a:extLst>
              <a:ext uri="{FF2B5EF4-FFF2-40B4-BE49-F238E27FC236}">
                <a16:creationId xmlns:a16="http://schemas.microsoft.com/office/drawing/2014/main" id="{D9997850-6827-5DCA-9821-8EF3B17C9CB9}"/>
              </a:ext>
            </a:extLst>
          </p:cNvPr>
          <p:cNvSpPr>
            <a:spLocks noGrp="1"/>
          </p:cNvSpPr>
          <p:nvPr>
            <p:ph type="subTitle" idx="1"/>
          </p:nvPr>
        </p:nvSpPr>
        <p:spPr>
          <a:xfrm>
            <a:off x="389467" y="1100667"/>
            <a:ext cx="11099800" cy="5647266"/>
          </a:xfrm>
        </p:spPr>
        <p:txBody>
          <a:bodyPr/>
          <a:lstStyle/>
          <a:p>
            <a:endParaRPr lang="en-US" dirty="0"/>
          </a:p>
          <a:p>
            <a:endParaRPr lang="en-US" dirty="0"/>
          </a:p>
          <a:p>
            <a:endParaRPr lang="en-IN" dirty="0"/>
          </a:p>
        </p:txBody>
      </p:sp>
      <p:graphicFrame>
        <p:nvGraphicFramePr>
          <p:cNvPr id="4" name="Table 3">
            <a:extLst>
              <a:ext uri="{FF2B5EF4-FFF2-40B4-BE49-F238E27FC236}">
                <a16:creationId xmlns:a16="http://schemas.microsoft.com/office/drawing/2014/main" id="{F047E191-4FCF-C70D-CE1B-B24671858CF6}"/>
              </a:ext>
            </a:extLst>
          </p:cNvPr>
          <p:cNvGraphicFramePr>
            <a:graphicFrameLocks noGrp="1"/>
          </p:cNvGraphicFramePr>
          <p:nvPr>
            <p:extLst>
              <p:ext uri="{D42A27DB-BD31-4B8C-83A1-F6EECF244321}">
                <p14:modId xmlns:p14="http://schemas.microsoft.com/office/powerpoint/2010/main" val="3233643402"/>
              </p:ext>
            </p:extLst>
          </p:nvPr>
        </p:nvGraphicFramePr>
        <p:xfrm>
          <a:off x="1168399" y="1100667"/>
          <a:ext cx="9330268" cy="5476968"/>
        </p:xfrm>
        <a:graphic>
          <a:graphicData uri="http://schemas.openxmlformats.org/drawingml/2006/table">
            <a:tbl>
              <a:tblPr/>
              <a:tblGrid>
                <a:gridCol w="4665134">
                  <a:extLst>
                    <a:ext uri="{9D8B030D-6E8A-4147-A177-3AD203B41FA5}">
                      <a16:colId xmlns:a16="http://schemas.microsoft.com/office/drawing/2014/main" val="2414073377"/>
                    </a:ext>
                  </a:extLst>
                </a:gridCol>
                <a:gridCol w="4665134">
                  <a:extLst>
                    <a:ext uri="{9D8B030D-6E8A-4147-A177-3AD203B41FA5}">
                      <a16:colId xmlns:a16="http://schemas.microsoft.com/office/drawing/2014/main" val="571585146"/>
                    </a:ext>
                  </a:extLst>
                </a:gridCol>
              </a:tblGrid>
              <a:tr h="282804">
                <a:tc>
                  <a:txBody>
                    <a:bodyPr/>
                    <a:lstStyle/>
                    <a:p>
                      <a:pPr>
                        <a:buNone/>
                      </a:pPr>
                      <a:r>
                        <a:rPr lang="en-IN" sz="1600"/>
                        <a:t>Sr. No.</a:t>
                      </a:r>
                    </a:p>
                  </a:txBody>
                  <a:tcPr marL="60435" marR="60435" marT="30218" marB="30218" anchor="ctr">
                    <a:lnL>
                      <a:noFill/>
                    </a:lnL>
                    <a:lnR>
                      <a:noFill/>
                    </a:lnR>
                    <a:lnT>
                      <a:noFill/>
                    </a:lnT>
                    <a:lnB>
                      <a:noFill/>
                    </a:lnB>
                    <a:noFill/>
                  </a:tcPr>
                </a:tc>
                <a:tc>
                  <a:txBody>
                    <a:bodyPr/>
                    <a:lstStyle/>
                    <a:p>
                      <a:pPr>
                        <a:buNone/>
                      </a:pPr>
                      <a:r>
                        <a:rPr lang="en-IN" sz="1600" dirty="0"/>
                        <a:t>Title</a:t>
                      </a:r>
                    </a:p>
                  </a:txBody>
                  <a:tcPr marL="60435" marR="60435" marT="30218" marB="30218" anchor="ctr">
                    <a:lnL>
                      <a:noFill/>
                    </a:lnL>
                    <a:lnR>
                      <a:noFill/>
                    </a:lnR>
                    <a:lnT>
                      <a:noFill/>
                    </a:lnT>
                    <a:lnB>
                      <a:noFill/>
                    </a:lnB>
                    <a:noFill/>
                  </a:tcPr>
                </a:tc>
                <a:extLst>
                  <a:ext uri="{0D108BD9-81ED-4DB2-BD59-A6C34878D82A}">
                    <a16:rowId xmlns:a16="http://schemas.microsoft.com/office/drawing/2014/main" val="353248401"/>
                  </a:ext>
                </a:extLst>
              </a:tr>
              <a:tr h="282804">
                <a:tc>
                  <a:txBody>
                    <a:bodyPr/>
                    <a:lstStyle/>
                    <a:p>
                      <a:pPr>
                        <a:buNone/>
                      </a:pPr>
                      <a:r>
                        <a:rPr lang="en-IN" sz="1600"/>
                        <a:t>1</a:t>
                      </a:r>
                    </a:p>
                  </a:txBody>
                  <a:tcPr marL="60435" marR="60435" marT="30218" marB="30218" anchor="ctr">
                    <a:lnL>
                      <a:noFill/>
                    </a:lnL>
                    <a:lnR>
                      <a:noFill/>
                    </a:lnR>
                    <a:lnT>
                      <a:noFill/>
                    </a:lnT>
                    <a:lnB>
                      <a:noFill/>
                    </a:lnB>
                    <a:noFill/>
                  </a:tcPr>
                </a:tc>
                <a:tc>
                  <a:txBody>
                    <a:bodyPr/>
                    <a:lstStyle/>
                    <a:p>
                      <a:pPr>
                        <a:buNone/>
                      </a:pPr>
                      <a:r>
                        <a:rPr lang="en-IN" sz="1600" dirty="0"/>
                        <a:t>Introduction</a:t>
                      </a:r>
                    </a:p>
                  </a:txBody>
                  <a:tcPr marL="60435" marR="60435" marT="30218" marB="30218" anchor="ctr">
                    <a:lnL>
                      <a:noFill/>
                    </a:lnL>
                    <a:lnR>
                      <a:noFill/>
                    </a:lnR>
                    <a:lnT>
                      <a:noFill/>
                    </a:lnT>
                    <a:lnB>
                      <a:noFill/>
                    </a:lnB>
                    <a:noFill/>
                  </a:tcPr>
                </a:tc>
                <a:extLst>
                  <a:ext uri="{0D108BD9-81ED-4DB2-BD59-A6C34878D82A}">
                    <a16:rowId xmlns:a16="http://schemas.microsoft.com/office/drawing/2014/main" val="2975840023"/>
                  </a:ext>
                </a:extLst>
              </a:tr>
              <a:tr h="282804">
                <a:tc>
                  <a:txBody>
                    <a:bodyPr/>
                    <a:lstStyle/>
                    <a:p>
                      <a:pPr>
                        <a:buNone/>
                      </a:pPr>
                      <a:r>
                        <a:rPr lang="en-IN" sz="1600" dirty="0"/>
                        <a:t>2</a:t>
                      </a:r>
                    </a:p>
                  </a:txBody>
                  <a:tcPr marL="60435" marR="60435" marT="30218" marB="30218" anchor="ctr">
                    <a:lnL>
                      <a:noFill/>
                    </a:lnL>
                    <a:lnR>
                      <a:noFill/>
                    </a:lnR>
                    <a:lnT>
                      <a:noFill/>
                    </a:lnT>
                    <a:lnB>
                      <a:noFill/>
                    </a:lnB>
                    <a:noFill/>
                  </a:tcPr>
                </a:tc>
                <a:tc>
                  <a:txBody>
                    <a:bodyPr/>
                    <a:lstStyle/>
                    <a:p>
                      <a:pPr>
                        <a:buNone/>
                      </a:pPr>
                      <a:r>
                        <a:rPr lang="en-IN" sz="1600"/>
                        <a:t>Project Overview</a:t>
                      </a:r>
                    </a:p>
                  </a:txBody>
                  <a:tcPr marL="60435" marR="60435" marT="30218" marB="30218" anchor="ctr">
                    <a:lnL>
                      <a:noFill/>
                    </a:lnL>
                    <a:lnR>
                      <a:noFill/>
                    </a:lnR>
                    <a:lnT>
                      <a:noFill/>
                    </a:lnT>
                    <a:lnB>
                      <a:noFill/>
                    </a:lnB>
                    <a:noFill/>
                  </a:tcPr>
                </a:tc>
                <a:extLst>
                  <a:ext uri="{0D108BD9-81ED-4DB2-BD59-A6C34878D82A}">
                    <a16:rowId xmlns:a16="http://schemas.microsoft.com/office/drawing/2014/main" val="1100476763"/>
                  </a:ext>
                </a:extLst>
              </a:tr>
              <a:tr h="282804">
                <a:tc>
                  <a:txBody>
                    <a:bodyPr/>
                    <a:lstStyle/>
                    <a:p>
                      <a:pPr>
                        <a:buNone/>
                      </a:pPr>
                      <a:r>
                        <a:rPr lang="en-IN" sz="1600"/>
                        <a:t>3</a:t>
                      </a:r>
                    </a:p>
                  </a:txBody>
                  <a:tcPr marL="60435" marR="60435" marT="30218" marB="30218" anchor="ctr">
                    <a:lnL>
                      <a:noFill/>
                    </a:lnL>
                    <a:lnR>
                      <a:noFill/>
                    </a:lnR>
                    <a:lnT>
                      <a:noFill/>
                    </a:lnT>
                    <a:lnB>
                      <a:noFill/>
                    </a:lnB>
                    <a:noFill/>
                  </a:tcPr>
                </a:tc>
                <a:tc>
                  <a:txBody>
                    <a:bodyPr/>
                    <a:lstStyle/>
                    <a:p>
                      <a:pPr>
                        <a:buNone/>
                      </a:pPr>
                      <a:r>
                        <a:rPr lang="en-IN" sz="1600"/>
                        <a:t>Objectives of the Project</a:t>
                      </a:r>
                    </a:p>
                  </a:txBody>
                  <a:tcPr marL="60435" marR="60435" marT="30218" marB="30218" anchor="ctr">
                    <a:lnL>
                      <a:noFill/>
                    </a:lnL>
                    <a:lnR>
                      <a:noFill/>
                    </a:lnR>
                    <a:lnT>
                      <a:noFill/>
                    </a:lnT>
                    <a:lnB>
                      <a:noFill/>
                    </a:lnB>
                    <a:noFill/>
                  </a:tcPr>
                </a:tc>
                <a:extLst>
                  <a:ext uri="{0D108BD9-81ED-4DB2-BD59-A6C34878D82A}">
                    <a16:rowId xmlns:a16="http://schemas.microsoft.com/office/drawing/2014/main" val="2574308964"/>
                  </a:ext>
                </a:extLst>
              </a:tr>
              <a:tr h="282804">
                <a:tc>
                  <a:txBody>
                    <a:bodyPr/>
                    <a:lstStyle/>
                    <a:p>
                      <a:pPr>
                        <a:buNone/>
                      </a:pPr>
                      <a:r>
                        <a:rPr lang="en-IN" sz="1600"/>
                        <a:t>4</a:t>
                      </a:r>
                    </a:p>
                  </a:txBody>
                  <a:tcPr marL="60435" marR="60435" marT="30218" marB="30218" anchor="ctr">
                    <a:lnL>
                      <a:noFill/>
                    </a:lnL>
                    <a:lnR>
                      <a:noFill/>
                    </a:lnR>
                    <a:lnT>
                      <a:noFill/>
                    </a:lnT>
                    <a:lnB>
                      <a:noFill/>
                    </a:lnB>
                    <a:noFill/>
                  </a:tcPr>
                </a:tc>
                <a:tc>
                  <a:txBody>
                    <a:bodyPr/>
                    <a:lstStyle/>
                    <a:p>
                      <a:pPr>
                        <a:buNone/>
                      </a:pPr>
                      <a:r>
                        <a:rPr lang="en-IN" sz="1600" dirty="0"/>
                        <a:t>Practical Motivation</a:t>
                      </a:r>
                    </a:p>
                  </a:txBody>
                  <a:tcPr marL="60435" marR="60435" marT="30218" marB="30218" anchor="ctr">
                    <a:lnL>
                      <a:noFill/>
                    </a:lnL>
                    <a:lnR>
                      <a:noFill/>
                    </a:lnR>
                    <a:lnT>
                      <a:noFill/>
                    </a:lnT>
                    <a:lnB>
                      <a:noFill/>
                    </a:lnB>
                    <a:noFill/>
                  </a:tcPr>
                </a:tc>
                <a:extLst>
                  <a:ext uri="{0D108BD9-81ED-4DB2-BD59-A6C34878D82A}">
                    <a16:rowId xmlns:a16="http://schemas.microsoft.com/office/drawing/2014/main" val="78375533"/>
                  </a:ext>
                </a:extLst>
              </a:tr>
              <a:tr h="282804">
                <a:tc>
                  <a:txBody>
                    <a:bodyPr/>
                    <a:lstStyle/>
                    <a:p>
                      <a:pPr>
                        <a:buNone/>
                      </a:pPr>
                      <a:r>
                        <a:rPr lang="en-IN" sz="1600"/>
                        <a:t>5</a:t>
                      </a:r>
                    </a:p>
                  </a:txBody>
                  <a:tcPr marL="60435" marR="60435" marT="30218" marB="30218" anchor="ctr">
                    <a:lnL>
                      <a:noFill/>
                    </a:lnL>
                    <a:lnR>
                      <a:noFill/>
                    </a:lnR>
                    <a:lnT>
                      <a:noFill/>
                    </a:lnT>
                    <a:lnB>
                      <a:noFill/>
                    </a:lnB>
                    <a:noFill/>
                  </a:tcPr>
                </a:tc>
                <a:tc>
                  <a:txBody>
                    <a:bodyPr/>
                    <a:lstStyle/>
                    <a:p>
                      <a:pPr>
                        <a:buNone/>
                      </a:pPr>
                      <a:r>
                        <a:rPr lang="en-IN" sz="1600"/>
                        <a:t>Scope of the Project</a:t>
                      </a:r>
                    </a:p>
                  </a:txBody>
                  <a:tcPr marL="60435" marR="60435" marT="30218" marB="30218" anchor="ctr">
                    <a:lnL>
                      <a:noFill/>
                    </a:lnL>
                    <a:lnR>
                      <a:noFill/>
                    </a:lnR>
                    <a:lnT>
                      <a:noFill/>
                    </a:lnT>
                    <a:lnB>
                      <a:noFill/>
                    </a:lnB>
                    <a:noFill/>
                  </a:tcPr>
                </a:tc>
                <a:extLst>
                  <a:ext uri="{0D108BD9-81ED-4DB2-BD59-A6C34878D82A}">
                    <a16:rowId xmlns:a16="http://schemas.microsoft.com/office/drawing/2014/main" val="2789478658"/>
                  </a:ext>
                </a:extLst>
              </a:tr>
              <a:tr h="282804">
                <a:tc>
                  <a:txBody>
                    <a:bodyPr/>
                    <a:lstStyle/>
                    <a:p>
                      <a:pPr>
                        <a:buNone/>
                      </a:pPr>
                      <a:r>
                        <a:rPr lang="en-IN" sz="1600"/>
                        <a:t>6</a:t>
                      </a:r>
                    </a:p>
                  </a:txBody>
                  <a:tcPr marL="60435" marR="60435" marT="30218" marB="30218" anchor="ctr">
                    <a:lnL>
                      <a:noFill/>
                    </a:lnL>
                    <a:lnR>
                      <a:noFill/>
                    </a:lnR>
                    <a:lnT>
                      <a:noFill/>
                    </a:lnT>
                    <a:lnB>
                      <a:noFill/>
                    </a:lnB>
                    <a:noFill/>
                  </a:tcPr>
                </a:tc>
                <a:tc>
                  <a:txBody>
                    <a:bodyPr/>
                    <a:lstStyle/>
                    <a:p>
                      <a:pPr>
                        <a:buNone/>
                      </a:pPr>
                      <a:r>
                        <a:rPr lang="en-IN" sz="1600"/>
                        <a:t>System Requirements</a:t>
                      </a:r>
                    </a:p>
                  </a:txBody>
                  <a:tcPr marL="60435" marR="60435" marT="30218" marB="30218" anchor="ctr">
                    <a:lnL>
                      <a:noFill/>
                    </a:lnL>
                    <a:lnR>
                      <a:noFill/>
                    </a:lnR>
                    <a:lnT>
                      <a:noFill/>
                    </a:lnT>
                    <a:lnB>
                      <a:noFill/>
                    </a:lnB>
                    <a:noFill/>
                  </a:tcPr>
                </a:tc>
                <a:extLst>
                  <a:ext uri="{0D108BD9-81ED-4DB2-BD59-A6C34878D82A}">
                    <a16:rowId xmlns:a16="http://schemas.microsoft.com/office/drawing/2014/main" val="1101774604"/>
                  </a:ext>
                </a:extLst>
              </a:tr>
              <a:tr h="282804">
                <a:tc>
                  <a:txBody>
                    <a:bodyPr/>
                    <a:lstStyle/>
                    <a:p>
                      <a:pPr>
                        <a:buNone/>
                      </a:pPr>
                      <a:r>
                        <a:rPr lang="en-IN" sz="1600"/>
                        <a:t>7</a:t>
                      </a:r>
                    </a:p>
                  </a:txBody>
                  <a:tcPr marL="60435" marR="60435" marT="30218" marB="30218" anchor="ctr">
                    <a:lnL>
                      <a:noFill/>
                    </a:lnL>
                    <a:lnR>
                      <a:noFill/>
                    </a:lnR>
                    <a:lnT>
                      <a:noFill/>
                    </a:lnT>
                    <a:lnB>
                      <a:noFill/>
                    </a:lnB>
                    <a:noFill/>
                  </a:tcPr>
                </a:tc>
                <a:tc>
                  <a:txBody>
                    <a:bodyPr/>
                    <a:lstStyle/>
                    <a:p>
                      <a:pPr>
                        <a:buNone/>
                      </a:pPr>
                      <a:r>
                        <a:rPr lang="en-IN" sz="1600" dirty="0"/>
                        <a:t>Technology Used</a:t>
                      </a:r>
                    </a:p>
                  </a:txBody>
                  <a:tcPr marL="60435" marR="60435" marT="30218" marB="30218" anchor="ctr">
                    <a:lnL>
                      <a:noFill/>
                    </a:lnL>
                    <a:lnR>
                      <a:noFill/>
                    </a:lnR>
                    <a:lnT>
                      <a:noFill/>
                    </a:lnT>
                    <a:lnB>
                      <a:noFill/>
                    </a:lnB>
                    <a:noFill/>
                  </a:tcPr>
                </a:tc>
                <a:extLst>
                  <a:ext uri="{0D108BD9-81ED-4DB2-BD59-A6C34878D82A}">
                    <a16:rowId xmlns:a16="http://schemas.microsoft.com/office/drawing/2014/main" val="450497023"/>
                  </a:ext>
                </a:extLst>
              </a:tr>
              <a:tr h="282804">
                <a:tc>
                  <a:txBody>
                    <a:bodyPr/>
                    <a:lstStyle/>
                    <a:p>
                      <a:pPr>
                        <a:buNone/>
                      </a:pPr>
                      <a:r>
                        <a:rPr lang="en-IN" sz="1600"/>
                        <a:t>8</a:t>
                      </a:r>
                    </a:p>
                  </a:txBody>
                  <a:tcPr marL="60435" marR="60435" marT="30218" marB="30218" anchor="ctr">
                    <a:lnL>
                      <a:noFill/>
                    </a:lnL>
                    <a:lnR>
                      <a:noFill/>
                    </a:lnR>
                    <a:lnT>
                      <a:noFill/>
                    </a:lnT>
                    <a:lnB>
                      <a:noFill/>
                    </a:lnB>
                    <a:noFill/>
                  </a:tcPr>
                </a:tc>
                <a:tc>
                  <a:txBody>
                    <a:bodyPr/>
                    <a:lstStyle/>
                    <a:p>
                      <a:pPr>
                        <a:buNone/>
                      </a:pPr>
                      <a:r>
                        <a:rPr lang="en-IN" sz="1600"/>
                        <a:t>Module Description</a:t>
                      </a:r>
                    </a:p>
                  </a:txBody>
                  <a:tcPr marL="60435" marR="60435" marT="30218" marB="30218" anchor="ctr">
                    <a:lnL>
                      <a:noFill/>
                    </a:lnL>
                    <a:lnR>
                      <a:noFill/>
                    </a:lnR>
                    <a:lnT>
                      <a:noFill/>
                    </a:lnT>
                    <a:lnB>
                      <a:noFill/>
                    </a:lnB>
                    <a:noFill/>
                  </a:tcPr>
                </a:tc>
                <a:extLst>
                  <a:ext uri="{0D108BD9-81ED-4DB2-BD59-A6C34878D82A}">
                    <a16:rowId xmlns:a16="http://schemas.microsoft.com/office/drawing/2014/main" val="4032762391"/>
                  </a:ext>
                </a:extLst>
              </a:tr>
              <a:tr h="282804">
                <a:tc>
                  <a:txBody>
                    <a:bodyPr/>
                    <a:lstStyle/>
                    <a:p>
                      <a:pPr>
                        <a:buNone/>
                      </a:pPr>
                      <a:r>
                        <a:rPr lang="en-IN" sz="1600"/>
                        <a:t>9</a:t>
                      </a:r>
                    </a:p>
                  </a:txBody>
                  <a:tcPr marL="60435" marR="60435" marT="30218" marB="30218" anchor="ctr">
                    <a:lnL>
                      <a:noFill/>
                    </a:lnL>
                    <a:lnR>
                      <a:noFill/>
                    </a:lnR>
                    <a:lnT>
                      <a:noFill/>
                    </a:lnT>
                    <a:lnB>
                      <a:noFill/>
                    </a:lnB>
                    <a:noFill/>
                  </a:tcPr>
                </a:tc>
                <a:tc>
                  <a:txBody>
                    <a:bodyPr/>
                    <a:lstStyle/>
                    <a:p>
                      <a:pPr>
                        <a:buNone/>
                      </a:pPr>
                      <a:r>
                        <a:rPr lang="en-IN" sz="1600" dirty="0"/>
                        <a:t>Working of the System</a:t>
                      </a:r>
                    </a:p>
                  </a:txBody>
                  <a:tcPr marL="60435" marR="60435" marT="30218" marB="30218" anchor="ctr">
                    <a:lnL>
                      <a:noFill/>
                    </a:lnL>
                    <a:lnR>
                      <a:noFill/>
                    </a:lnR>
                    <a:lnT>
                      <a:noFill/>
                    </a:lnT>
                    <a:lnB>
                      <a:noFill/>
                    </a:lnB>
                    <a:noFill/>
                  </a:tcPr>
                </a:tc>
                <a:extLst>
                  <a:ext uri="{0D108BD9-81ED-4DB2-BD59-A6C34878D82A}">
                    <a16:rowId xmlns:a16="http://schemas.microsoft.com/office/drawing/2014/main" val="896462112"/>
                  </a:ext>
                </a:extLst>
              </a:tr>
              <a:tr h="282804">
                <a:tc>
                  <a:txBody>
                    <a:bodyPr/>
                    <a:lstStyle/>
                    <a:p>
                      <a:pPr>
                        <a:buNone/>
                      </a:pPr>
                      <a:r>
                        <a:rPr lang="en-IN" sz="1600" dirty="0"/>
                        <a:t>10</a:t>
                      </a:r>
                    </a:p>
                  </a:txBody>
                  <a:tcPr marL="60435" marR="60435" marT="30218" marB="30218" anchor="ctr">
                    <a:lnL>
                      <a:noFill/>
                    </a:lnL>
                    <a:lnR>
                      <a:noFill/>
                    </a:lnR>
                    <a:lnT>
                      <a:noFill/>
                    </a:lnT>
                    <a:lnB>
                      <a:noFill/>
                    </a:lnB>
                    <a:noFill/>
                  </a:tcPr>
                </a:tc>
                <a:tc>
                  <a:txBody>
                    <a:bodyPr/>
                    <a:lstStyle/>
                    <a:p>
                      <a:pPr>
                        <a:buNone/>
                      </a:pPr>
                      <a:r>
                        <a:rPr lang="en-IN" sz="1600" dirty="0"/>
                        <a:t>Program Code Overview</a:t>
                      </a:r>
                    </a:p>
                  </a:txBody>
                  <a:tcPr marL="60435" marR="60435" marT="30218" marB="30218" anchor="ctr">
                    <a:lnL>
                      <a:noFill/>
                    </a:lnL>
                    <a:lnR>
                      <a:noFill/>
                    </a:lnR>
                    <a:lnT>
                      <a:noFill/>
                    </a:lnT>
                    <a:lnB>
                      <a:noFill/>
                    </a:lnB>
                    <a:noFill/>
                  </a:tcPr>
                </a:tc>
                <a:extLst>
                  <a:ext uri="{0D108BD9-81ED-4DB2-BD59-A6C34878D82A}">
                    <a16:rowId xmlns:a16="http://schemas.microsoft.com/office/drawing/2014/main" val="653504208"/>
                  </a:ext>
                </a:extLst>
              </a:tr>
              <a:tr h="282804">
                <a:tc>
                  <a:txBody>
                    <a:bodyPr/>
                    <a:lstStyle/>
                    <a:p>
                      <a:pPr>
                        <a:buNone/>
                      </a:pPr>
                      <a:r>
                        <a:rPr lang="en-IN" sz="1600"/>
                        <a:t>11</a:t>
                      </a:r>
                    </a:p>
                  </a:txBody>
                  <a:tcPr marL="60435" marR="60435" marT="30218" marB="30218" anchor="ctr">
                    <a:lnL>
                      <a:noFill/>
                    </a:lnL>
                    <a:lnR>
                      <a:noFill/>
                    </a:lnR>
                    <a:lnT>
                      <a:noFill/>
                    </a:lnT>
                    <a:lnB>
                      <a:noFill/>
                    </a:lnB>
                    <a:noFill/>
                  </a:tcPr>
                </a:tc>
                <a:tc>
                  <a:txBody>
                    <a:bodyPr/>
                    <a:lstStyle/>
                    <a:p>
                      <a:pPr>
                        <a:buNone/>
                      </a:pPr>
                      <a:r>
                        <a:rPr lang="en-IN" sz="1600" dirty="0"/>
                        <a:t>Sample Output</a:t>
                      </a:r>
                    </a:p>
                  </a:txBody>
                  <a:tcPr marL="60435" marR="60435" marT="30218" marB="30218" anchor="ctr">
                    <a:lnL>
                      <a:noFill/>
                    </a:lnL>
                    <a:lnR>
                      <a:noFill/>
                    </a:lnR>
                    <a:lnT>
                      <a:noFill/>
                    </a:lnT>
                    <a:lnB>
                      <a:noFill/>
                    </a:lnB>
                    <a:noFill/>
                  </a:tcPr>
                </a:tc>
                <a:extLst>
                  <a:ext uri="{0D108BD9-81ED-4DB2-BD59-A6C34878D82A}">
                    <a16:rowId xmlns:a16="http://schemas.microsoft.com/office/drawing/2014/main" val="104465600"/>
                  </a:ext>
                </a:extLst>
              </a:tr>
              <a:tr h="282804">
                <a:tc>
                  <a:txBody>
                    <a:bodyPr/>
                    <a:lstStyle/>
                    <a:p>
                      <a:pPr>
                        <a:buNone/>
                      </a:pPr>
                      <a:r>
                        <a:rPr lang="en-IN" sz="1600"/>
                        <a:t>12</a:t>
                      </a:r>
                    </a:p>
                  </a:txBody>
                  <a:tcPr marL="60435" marR="60435" marT="30218" marB="30218" anchor="ctr">
                    <a:lnL>
                      <a:noFill/>
                    </a:lnL>
                    <a:lnR>
                      <a:noFill/>
                    </a:lnR>
                    <a:lnT>
                      <a:noFill/>
                    </a:lnT>
                    <a:lnB>
                      <a:noFill/>
                    </a:lnB>
                    <a:noFill/>
                  </a:tcPr>
                </a:tc>
                <a:tc>
                  <a:txBody>
                    <a:bodyPr/>
                    <a:lstStyle/>
                    <a:p>
                      <a:pPr>
                        <a:buNone/>
                      </a:pPr>
                      <a:r>
                        <a:rPr lang="en-IN" sz="1600" dirty="0"/>
                        <a:t>Advantages</a:t>
                      </a:r>
                    </a:p>
                  </a:txBody>
                  <a:tcPr marL="60435" marR="60435" marT="30218" marB="30218" anchor="ctr">
                    <a:lnL>
                      <a:noFill/>
                    </a:lnL>
                    <a:lnR>
                      <a:noFill/>
                    </a:lnR>
                    <a:lnT>
                      <a:noFill/>
                    </a:lnT>
                    <a:lnB>
                      <a:noFill/>
                    </a:lnB>
                    <a:noFill/>
                  </a:tcPr>
                </a:tc>
                <a:extLst>
                  <a:ext uri="{0D108BD9-81ED-4DB2-BD59-A6C34878D82A}">
                    <a16:rowId xmlns:a16="http://schemas.microsoft.com/office/drawing/2014/main" val="150101324"/>
                  </a:ext>
                </a:extLst>
              </a:tr>
              <a:tr h="282804">
                <a:tc>
                  <a:txBody>
                    <a:bodyPr/>
                    <a:lstStyle/>
                    <a:p>
                      <a:pPr>
                        <a:buNone/>
                      </a:pPr>
                      <a:r>
                        <a:rPr lang="en-IN" sz="1600"/>
                        <a:t>13</a:t>
                      </a:r>
                    </a:p>
                  </a:txBody>
                  <a:tcPr marL="60435" marR="60435" marT="30218" marB="30218" anchor="ctr">
                    <a:lnL>
                      <a:noFill/>
                    </a:lnL>
                    <a:lnR>
                      <a:noFill/>
                    </a:lnR>
                    <a:lnT>
                      <a:noFill/>
                    </a:lnT>
                    <a:lnB>
                      <a:noFill/>
                    </a:lnB>
                    <a:noFill/>
                  </a:tcPr>
                </a:tc>
                <a:tc>
                  <a:txBody>
                    <a:bodyPr/>
                    <a:lstStyle/>
                    <a:p>
                      <a:pPr>
                        <a:buNone/>
                      </a:pPr>
                      <a:r>
                        <a:rPr lang="en-IN" sz="1600" dirty="0"/>
                        <a:t>Limitations</a:t>
                      </a:r>
                    </a:p>
                  </a:txBody>
                  <a:tcPr marL="60435" marR="60435" marT="30218" marB="30218" anchor="ctr">
                    <a:lnL>
                      <a:noFill/>
                    </a:lnL>
                    <a:lnR>
                      <a:noFill/>
                    </a:lnR>
                    <a:lnT>
                      <a:noFill/>
                    </a:lnT>
                    <a:lnB>
                      <a:noFill/>
                    </a:lnB>
                    <a:noFill/>
                  </a:tcPr>
                </a:tc>
                <a:extLst>
                  <a:ext uri="{0D108BD9-81ED-4DB2-BD59-A6C34878D82A}">
                    <a16:rowId xmlns:a16="http://schemas.microsoft.com/office/drawing/2014/main" val="1433333250"/>
                  </a:ext>
                </a:extLst>
              </a:tr>
              <a:tr h="282804">
                <a:tc>
                  <a:txBody>
                    <a:bodyPr/>
                    <a:lstStyle/>
                    <a:p>
                      <a:pPr>
                        <a:buNone/>
                      </a:pPr>
                      <a:r>
                        <a:rPr lang="en-IN" sz="1600"/>
                        <a:t>14</a:t>
                      </a:r>
                    </a:p>
                  </a:txBody>
                  <a:tcPr marL="60435" marR="60435" marT="30218" marB="30218" anchor="ctr">
                    <a:lnL>
                      <a:noFill/>
                    </a:lnL>
                    <a:lnR>
                      <a:noFill/>
                    </a:lnR>
                    <a:lnT>
                      <a:noFill/>
                    </a:lnT>
                    <a:lnB>
                      <a:noFill/>
                    </a:lnB>
                    <a:noFill/>
                  </a:tcPr>
                </a:tc>
                <a:tc>
                  <a:txBody>
                    <a:bodyPr/>
                    <a:lstStyle/>
                    <a:p>
                      <a:pPr>
                        <a:buNone/>
                      </a:pPr>
                      <a:r>
                        <a:rPr lang="en-IN" sz="1600" dirty="0"/>
                        <a:t>Applications</a:t>
                      </a:r>
                    </a:p>
                  </a:txBody>
                  <a:tcPr marL="60435" marR="60435" marT="30218" marB="30218" anchor="ctr">
                    <a:lnL>
                      <a:noFill/>
                    </a:lnL>
                    <a:lnR>
                      <a:noFill/>
                    </a:lnR>
                    <a:lnT>
                      <a:noFill/>
                    </a:lnT>
                    <a:lnB>
                      <a:noFill/>
                    </a:lnB>
                    <a:noFill/>
                  </a:tcPr>
                </a:tc>
                <a:extLst>
                  <a:ext uri="{0D108BD9-81ED-4DB2-BD59-A6C34878D82A}">
                    <a16:rowId xmlns:a16="http://schemas.microsoft.com/office/drawing/2014/main" val="4269810239"/>
                  </a:ext>
                </a:extLst>
              </a:tr>
              <a:tr h="282804">
                <a:tc>
                  <a:txBody>
                    <a:bodyPr/>
                    <a:lstStyle/>
                    <a:p>
                      <a:pPr>
                        <a:buNone/>
                      </a:pPr>
                      <a:r>
                        <a:rPr lang="en-IN" sz="1600"/>
                        <a:t>15</a:t>
                      </a:r>
                    </a:p>
                  </a:txBody>
                  <a:tcPr marL="60435" marR="60435" marT="30218" marB="30218" anchor="ctr">
                    <a:lnL>
                      <a:noFill/>
                    </a:lnL>
                    <a:lnR>
                      <a:noFill/>
                    </a:lnR>
                    <a:lnT>
                      <a:noFill/>
                    </a:lnT>
                    <a:lnB>
                      <a:noFill/>
                    </a:lnB>
                    <a:noFill/>
                  </a:tcPr>
                </a:tc>
                <a:tc>
                  <a:txBody>
                    <a:bodyPr/>
                    <a:lstStyle/>
                    <a:p>
                      <a:pPr>
                        <a:buNone/>
                      </a:pPr>
                      <a:r>
                        <a:rPr lang="en-IN" sz="1600" dirty="0"/>
                        <a:t>Future Enhancements</a:t>
                      </a:r>
                    </a:p>
                  </a:txBody>
                  <a:tcPr marL="60435" marR="60435" marT="30218" marB="30218" anchor="ctr">
                    <a:lnL>
                      <a:noFill/>
                    </a:lnL>
                    <a:lnR>
                      <a:noFill/>
                    </a:lnR>
                    <a:lnT>
                      <a:noFill/>
                    </a:lnT>
                    <a:lnB>
                      <a:noFill/>
                    </a:lnB>
                    <a:noFill/>
                  </a:tcPr>
                </a:tc>
                <a:extLst>
                  <a:ext uri="{0D108BD9-81ED-4DB2-BD59-A6C34878D82A}">
                    <a16:rowId xmlns:a16="http://schemas.microsoft.com/office/drawing/2014/main" val="565990831"/>
                  </a:ext>
                </a:extLst>
              </a:tr>
              <a:tr h="282804">
                <a:tc>
                  <a:txBody>
                    <a:bodyPr/>
                    <a:lstStyle/>
                    <a:p>
                      <a:pPr>
                        <a:buNone/>
                      </a:pPr>
                      <a:r>
                        <a:rPr lang="en-IN" sz="1600"/>
                        <a:t>16</a:t>
                      </a:r>
                    </a:p>
                  </a:txBody>
                  <a:tcPr marL="60435" marR="60435" marT="30218" marB="30218" anchor="ctr">
                    <a:lnL>
                      <a:noFill/>
                    </a:lnL>
                    <a:lnR>
                      <a:noFill/>
                    </a:lnR>
                    <a:lnT>
                      <a:noFill/>
                    </a:lnT>
                    <a:lnB>
                      <a:noFill/>
                    </a:lnB>
                    <a:noFill/>
                  </a:tcPr>
                </a:tc>
                <a:tc>
                  <a:txBody>
                    <a:bodyPr/>
                    <a:lstStyle/>
                    <a:p>
                      <a:pPr>
                        <a:buNone/>
                      </a:pPr>
                      <a:r>
                        <a:rPr lang="en-IN" sz="1600" dirty="0"/>
                        <a:t>Conclusion</a:t>
                      </a:r>
                    </a:p>
                  </a:txBody>
                  <a:tcPr marL="60435" marR="60435" marT="30218" marB="30218" anchor="ctr">
                    <a:lnL>
                      <a:noFill/>
                    </a:lnL>
                    <a:lnR>
                      <a:noFill/>
                    </a:lnR>
                    <a:lnT>
                      <a:noFill/>
                    </a:lnT>
                    <a:lnB>
                      <a:noFill/>
                    </a:lnB>
                    <a:noFill/>
                  </a:tcPr>
                </a:tc>
                <a:extLst>
                  <a:ext uri="{0D108BD9-81ED-4DB2-BD59-A6C34878D82A}">
                    <a16:rowId xmlns:a16="http://schemas.microsoft.com/office/drawing/2014/main" val="1732595965"/>
                  </a:ext>
                </a:extLst>
              </a:tr>
              <a:tr h="282804">
                <a:tc>
                  <a:txBody>
                    <a:bodyPr/>
                    <a:lstStyle/>
                    <a:p>
                      <a:pPr>
                        <a:buNone/>
                      </a:pPr>
                      <a:r>
                        <a:rPr lang="en-IN" sz="1600" dirty="0"/>
                        <a:t>17</a:t>
                      </a:r>
                    </a:p>
                  </a:txBody>
                  <a:tcPr marL="60435" marR="60435" marT="30218" marB="30218" anchor="ctr">
                    <a:lnL>
                      <a:noFill/>
                    </a:lnL>
                    <a:lnR>
                      <a:noFill/>
                    </a:lnR>
                    <a:lnT>
                      <a:noFill/>
                    </a:lnT>
                    <a:lnB>
                      <a:noFill/>
                    </a:lnB>
                    <a:noFill/>
                  </a:tcPr>
                </a:tc>
                <a:tc>
                  <a:txBody>
                    <a:bodyPr/>
                    <a:lstStyle/>
                    <a:p>
                      <a:pPr>
                        <a:buNone/>
                      </a:pPr>
                      <a:r>
                        <a:rPr lang="en-IN" sz="1600" dirty="0"/>
                        <a:t>References</a:t>
                      </a:r>
                    </a:p>
                  </a:txBody>
                  <a:tcPr marL="60435" marR="60435" marT="30218" marB="30218" anchor="ctr">
                    <a:lnL>
                      <a:noFill/>
                    </a:lnL>
                    <a:lnR>
                      <a:noFill/>
                    </a:lnR>
                    <a:lnT>
                      <a:noFill/>
                    </a:lnT>
                    <a:lnB>
                      <a:noFill/>
                    </a:lnB>
                    <a:noFill/>
                  </a:tcPr>
                </a:tc>
                <a:extLst>
                  <a:ext uri="{0D108BD9-81ED-4DB2-BD59-A6C34878D82A}">
                    <a16:rowId xmlns:a16="http://schemas.microsoft.com/office/drawing/2014/main" val="608277765"/>
                  </a:ext>
                </a:extLst>
              </a:tr>
            </a:tbl>
          </a:graphicData>
        </a:graphic>
      </p:graphicFrame>
    </p:spTree>
    <p:extLst>
      <p:ext uri="{BB962C8B-B14F-4D97-AF65-F5344CB8AC3E}">
        <p14:creationId xmlns:p14="http://schemas.microsoft.com/office/powerpoint/2010/main" val="2819258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FC8B-2B7F-99D9-6DC6-7D3149550A45}"/>
              </a:ext>
            </a:extLst>
          </p:cNvPr>
          <p:cNvSpPr>
            <a:spLocks noGrp="1"/>
          </p:cNvSpPr>
          <p:nvPr>
            <p:ph type="title"/>
          </p:nvPr>
        </p:nvSpPr>
        <p:spPr>
          <a:xfrm>
            <a:off x="838200" y="365125"/>
            <a:ext cx="10515600" cy="650875"/>
          </a:xfrm>
        </p:spPr>
        <p:txBody>
          <a:bodyPr>
            <a:normAutofit/>
          </a:bodyPr>
          <a:lstStyle/>
          <a:p>
            <a:r>
              <a:rPr lang="en-US" dirty="0"/>
              <a:t>                                  </a:t>
            </a:r>
            <a:r>
              <a:rPr lang="en-US" b="1" dirty="0"/>
              <a:t>1.Introduction</a:t>
            </a:r>
            <a:endParaRPr lang="en-IN" b="1" dirty="0"/>
          </a:p>
        </p:txBody>
      </p:sp>
      <p:sp>
        <p:nvSpPr>
          <p:cNvPr id="3" name="Content Placeholder 2">
            <a:extLst>
              <a:ext uri="{FF2B5EF4-FFF2-40B4-BE49-F238E27FC236}">
                <a16:creationId xmlns:a16="http://schemas.microsoft.com/office/drawing/2014/main" id="{7568FD1E-DF08-23B5-D639-6AD692DAE290}"/>
              </a:ext>
            </a:extLst>
          </p:cNvPr>
          <p:cNvSpPr>
            <a:spLocks noGrp="1"/>
          </p:cNvSpPr>
          <p:nvPr>
            <p:ph idx="1"/>
          </p:nvPr>
        </p:nvSpPr>
        <p:spPr>
          <a:xfrm>
            <a:off x="372533" y="1100667"/>
            <a:ext cx="10981267" cy="5537200"/>
          </a:xfrm>
        </p:spPr>
        <p:txBody>
          <a:bodyPr>
            <a:normAutofit/>
          </a:bodyPr>
          <a:lstStyle/>
          <a:p>
            <a:r>
              <a:rPr lang="en-US" sz="1800" dirty="0"/>
              <a:t>In today’s cybersecurity landscape, security systems such as Antivirus, Firewalls, Intrusion Detection Systems (IDS), and Endpoint Detection &amp; Response (EDR) solutions detect malicious payloads using signature-based and behavior-based detection techniques. However, attackers often use encoding and obfuscation techniques to bypass these detection mechanisms.</a:t>
            </a:r>
          </a:p>
          <a:p>
            <a:r>
              <a:rPr lang="en-US" sz="1800" dirty="0"/>
              <a:t>The Payload Encoding Framework is designed to study how offensive payloads are transformed into encoded or obfuscated formats to evade detection. This project demonstrates how different encoding techniques alter payload structure while maintaining functionality. The purpose is educational and defensive — to understand attacker techniques and improve security solutions</a:t>
            </a:r>
          </a:p>
          <a:p>
            <a:r>
              <a:rPr lang="en-US" sz="1800" dirty="0"/>
              <a:t>The main goal is not to create malware, but to understand:</a:t>
            </a:r>
          </a:p>
          <a:p>
            <a:r>
              <a:rPr lang="en-US" sz="1800" dirty="0"/>
              <a:t>How encoding techniques work</a:t>
            </a:r>
          </a:p>
          <a:p>
            <a:r>
              <a:rPr lang="en-US" sz="1800" dirty="0"/>
              <a:t>How attackers evade detection</a:t>
            </a:r>
          </a:p>
          <a:p>
            <a:r>
              <a:rPr lang="en-US" sz="1800" dirty="0"/>
              <a:t>How defenders can improve security mechanisms</a:t>
            </a:r>
          </a:p>
          <a:p>
            <a:r>
              <a:rPr lang="en-US" sz="1800" dirty="0"/>
              <a:t>This project focuses on defensive research and cybersecurity awareness.</a:t>
            </a:r>
          </a:p>
          <a:p>
            <a:endParaRPr lang="en-US" sz="1800" dirty="0"/>
          </a:p>
        </p:txBody>
      </p:sp>
    </p:spTree>
    <p:extLst>
      <p:ext uri="{BB962C8B-B14F-4D97-AF65-F5344CB8AC3E}">
        <p14:creationId xmlns:p14="http://schemas.microsoft.com/office/powerpoint/2010/main" val="3683493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5347D-40C7-B28C-6BFE-9517E2231E96}"/>
              </a:ext>
            </a:extLst>
          </p:cNvPr>
          <p:cNvSpPr>
            <a:spLocks noGrp="1"/>
          </p:cNvSpPr>
          <p:nvPr>
            <p:ph type="title"/>
          </p:nvPr>
        </p:nvSpPr>
        <p:spPr>
          <a:xfrm>
            <a:off x="838200" y="365126"/>
            <a:ext cx="10515600" cy="718608"/>
          </a:xfrm>
        </p:spPr>
        <p:txBody>
          <a:bodyPr/>
          <a:lstStyle/>
          <a:p>
            <a:r>
              <a:rPr lang="en-US" dirty="0"/>
              <a:t>                   </a:t>
            </a:r>
            <a:r>
              <a:rPr lang="en-US" b="1" dirty="0"/>
              <a:t>2.</a:t>
            </a:r>
            <a:r>
              <a:rPr lang="en-IN" b="1" dirty="0"/>
              <a:t> Project Overview</a:t>
            </a:r>
          </a:p>
        </p:txBody>
      </p:sp>
      <p:sp>
        <p:nvSpPr>
          <p:cNvPr id="3" name="Content Placeholder 2">
            <a:extLst>
              <a:ext uri="{FF2B5EF4-FFF2-40B4-BE49-F238E27FC236}">
                <a16:creationId xmlns:a16="http://schemas.microsoft.com/office/drawing/2014/main" id="{33C40B1C-AE00-F18F-CB31-929C93F88359}"/>
              </a:ext>
            </a:extLst>
          </p:cNvPr>
          <p:cNvSpPr>
            <a:spLocks noGrp="1"/>
          </p:cNvSpPr>
          <p:nvPr>
            <p:ph idx="1"/>
          </p:nvPr>
        </p:nvSpPr>
        <p:spPr>
          <a:xfrm>
            <a:off x="414867" y="1083734"/>
            <a:ext cx="10938933" cy="5545666"/>
          </a:xfrm>
        </p:spPr>
        <p:txBody>
          <a:bodyPr>
            <a:normAutofit lnSpcReduction="10000"/>
          </a:bodyPr>
          <a:lstStyle/>
          <a:p>
            <a:r>
              <a:rPr lang="en-IN" sz="1800" dirty="0"/>
              <a:t>The Payload Encoding Framework is a practical cybersecurity project that:</a:t>
            </a:r>
          </a:p>
          <a:p>
            <a:r>
              <a:rPr lang="en-IN" sz="1800" dirty="0"/>
              <a:t>Takes a sample payload as input.</a:t>
            </a:r>
          </a:p>
          <a:p>
            <a:r>
              <a:rPr lang="en-IN" sz="1800" dirty="0"/>
              <a:t>Applies different encoding techniques.</a:t>
            </a:r>
          </a:p>
          <a:p>
            <a:r>
              <a:rPr lang="en-IN" sz="1800" dirty="0"/>
              <a:t>Generates encoded output.</a:t>
            </a:r>
          </a:p>
          <a:p>
            <a:r>
              <a:rPr lang="en-IN" sz="1800" dirty="0"/>
              <a:t>Demonstrates how encoding changes payload signatures.</a:t>
            </a:r>
          </a:p>
          <a:p>
            <a:r>
              <a:rPr lang="en-IN" sz="1800" dirty="0"/>
              <a:t>Helps </a:t>
            </a:r>
            <a:r>
              <a:rPr lang="en-IN" sz="1800" dirty="0" err="1"/>
              <a:t>analyze</a:t>
            </a:r>
            <a:r>
              <a:rPr lang="en-IN" sz="1800" dirty="0"/>
              <a:t> detection evasion methods.</a:t>
            </a:r>
          </a:p>
          <a:p>
            <a:r>
              <a:rPr lang="en-IN" sz="1800" dirty="0"/>
              <a:t>The framework allows experimentation with multiple encoding schemes such as Base64, XOR encoding, Hex encoding, URL encoding, and custom obfuscation methods.</a:t>
            </a:r>
          </a:p>
          <a:p>
            <a:pPr marL="0" indent="0">
              <a:buNone/>
            </a:pPr>
            <a:r>
              <a:rPr lang="en-US" sz="1800" dirty="0"/>
              <a:t>The framework is modular in structure, allowing different encoding methods to be implemented and tested independently. It provides:</a:t>
            </a:r>
          </a:p>
          <a:p>
            <a:r>
              <a:rPr lang="en-US" sz="1800" dirty="0"/>
              <a:t>A user input system for entering sample payloads.</a:t>
            </a:r>
          </a:p>
          <a:p>
            <a:r>
              <a:rPr lang="en-US" sz="1800" dirty="0"/>
              <a:t>Multiple encoding techniques applied to the same payload.</a:t>
            </a:r>
          </a:p>
          <a:p>
            <a:r>
              <a:rPr lang="en-US" sz="1800" dirty="0"/>
              <a:t>Comparison between original and transformed payload.</a:t>
            </a:r>
          </a:p>
          <a:p>
            <a:r>
              <a:rPr lang="en-US" sz="1800" dirty="0"/>
              <a:t>Output display for analysis.</a:t>
            </a:r>
          </a:p>
          <a:p>
            <a:r>
              <a:rPr lang="en-US" sz="1800" dirty="0"/>
              <a:t>Reversibility testing to ensure encoded payload integrity</a:t>
            </a:r>
          </a:p>
          <a:p>
            <a:endParaRPr lang="en-IN" sz="1800" dirty="0"/>
          </a:p>
          <a:p>
            <a:endParaRPr lang="en-IN" dirty="0"/>
          </a:p>
        </p:txBody>
      </p:sp>
    </p:spTree>
    <p:extLst>
      <p:ext uri="{BB962C8B-B14F-4D97-AF65-F5344CB8AC3E}">
        <p14:creationId xmlns:p14="http://schemas.microsoft.com/office/powerpoint/2010/main" val="1118364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D46A-7D05-C13D-978D-E1D813440BC5}"/>
              </a:ext>
            </a:extLst>
          </p:cNvPr>
          <p:cNvSpPr>
            <a:spLocks noGrp="1"/>
          </p:cNvSpPr>
          <p:nvPr>
            <p:ph type="title"/>
          </p:nvPr>
        </p:nvSpPr>
        <p:spPr>
          <a:xfrm>
            <a:off x="838200" y="365125"/>
            <a:ext cx="10515600" cy="710141"/>
          </a:xfrm>
        </p:spPr>
        <p:txBody>
          <a:bodyPr>
            <a:normAutofit/>
          </a:bodyPr>
          <a:lstStyle/>
          <a:p>
            <a:r>
              <a:rPr lang="en-US" dirty="0"/>
              <a:t>               </a:t>
            </a:r>
            <a:r>
              <a:rPr lang="en-US" b="1" dirty="0"/>
              <a:t>3.</a:t>
            </a:r>
            <a:r>
              <a:rPr lang="en-IN" b="1" dirty="0"/>
              <a:t> Objectives of the Project</a:t>
            </a:r>
          </a:p>
        </p:txBody>
      </p:sp>
      <p:sp>
        <p:nvSpPr>
          <p:cNvPr id="3" name="Content Placeholder 2">
            <a:extLst>
              <a:ext uri="{FF2B5EF4-FFF2-40B4-BE49-F238E27FC236}">
                <a16:creationId xmlns:a16="http://schemas.microsoft.com/office/drawing/2014/main" id="{CDF7B892-220D-5477-2744-129C0C71DFC3}"/>
              </a:ext>
            </a:extLst>
          </p:cNvPr>
          <p:cNvSpPr>
            <a:spLocks noGrp="1"/>
          </p:cNvSpPr>
          <p:nvPr>
            <p:ph idx="1"/>
          </p:nvPr>
        </p:nvSpPr>
        <p:spPr>
          <a:xfrm>
            <a:off x="237067" y="1219200"/>
            <a:ext cx="11116733" cy="5452533"/>
          </a:xfrm>
        </p:spPr>
        <p:txBody>
          <a:bodyPr>
            <a:normAutofit fontScale="25000" lnSpcReduction="20000"/>
          </a:bodyPr>
          <a:lstStyle/>
          <a:p>
            <a:endParaRPr lang="en-IN" sz="8000" dirty="0"/>
          </a:p>
          <a:p>
            <a:r>
              <a:rPr lang="en-IN" sz="8000" dirty="0"/>
              <a:t>To improve understanding of red team techniques for defensive research.</a:t>
            </a:r>
          </a:p>
          <a:p>
            <a:r>
              <a:rPr lang="en-US" sz="8000" b="1" dirty="0"/>
              <a:t>1. Educational Objective</a:t>
            </a:r>
          </a:p>
          <a:p>
            <a:r>
              <a:rPr lang="en-US" sz="8000" dirty="0"/>
              <a:t>To provide hands-on understanding of encoding and obfuscation.</a:t>
            </a:r>
          </a:p>
          <a:p>
            <a:r>
              <a:rPr lang="en-US" sz="8000" dirty="0"/>
              <a:t>To bridge theoretical cybersecurity concepts with practical implementation.</a:t>
            </a:r>
          </a:p>
          <a:p>
            <a:r>
              <a:rPr lang="en-US" sz="8000" b="1" dirty="0"/>
              <a:t>2. Technical Objective</a:t>
            </a:r>
          </a:p>
          <a:p>
            <a:r>
              <a:rPr lang="en-US" sz="8000" dirty="0"/>
              <a:t>To implement various encoding techniques such as:</a:t>
            </a:r>
          </a:p>
          <a:p>
            <a:pPr lvl="1"/>
            <a:r>
              <a:rPr lang="en-US" sz="8000" dirty="0"/>
              <a:t>Base64 Encoding</a:t>
            </a:r>
          </a:p>
          <a:p>
            <a:pPr lvl="1"/>
            <a:r>
              <a:rPr lang="en-US" sz="8000" dirty="0"/>
              <a:t>Hex Encoding</a:t>
            </a:r>
          </a:p>
          <a:p>
            <a:pPr lvl="1"/>
            <a:r>
              <a:rPr lang="en-US" sz="8000" dirty="0"/>
              <a:t>XOR Encoding</a:t>
            </a:r>
          </a:p>
          <a:p>
            <a:pPr lvl="1"/>
            <a:r>
              <a:rPr lang="en-US" sz="8000" dirty="0"/>
              <a:t>URL Encoding</a:t>
            </a:r>
          </a:p>
          <a:p>
            <a:pPr lvl="1"/>
            <a:r>
              <a:rPr lang="en-US" sz="8000" dirty="0"/>
              <a:t>Custom string obfuscation</a:t>
            </a:r>
          </a:p>
          <a:p>
            <a:r>
              <a:rPr lang="en-US" sz="8000" dirty="0"/>
              <a:t>To design a modular and scalable framework structure.</a:t>
            </a:r>
          </a:p>
          <a:p>
            <a:pPr marL="0" indent="0">
              <a:buNone/>
            </a:pPr>
            <a:endParaRPr lang="en-US" sz="8000" dirty="0"/>
          </a:p>
          <a:p>
            <a:endParaRPr lang="en-IN" sz="8000" dirty="0"/>
          </a:p>
          <a:p>
            <a:endParaRPr lang="en-IN" dirty="0"/>
          </a:p>
        </p:txBody>
      </p:sp>
    </p:spTree>
    <p:extLst>
      <p:ext uri="{BB962C8B-B14F-4D97-AF65-F5344CB8AC3E}">
        <p14:creationId xmlns:p14="http://schemas.microsoft.com/office/powerpoint/2010/main" val="2754609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FEB-84AE-10C1-D0C5-816E388FD4E3}"/>
              </a:ext>
            </a:extLst>
          </p:cNvPr>
          <p:cNvSpPr>
            <a:spLocks noGrp="1"/>
          </p:cNvSpPr>
          <p:nvPr>
            <p:ph type="title"/>
          </p:nvPr>
        </p:nvSpPr>
        <p:spPr>
          <a:xfrm>
            <a:off x="838200" y="365126"/>
            <a:ext cx="10515600" cy="735542"/>
          </a:xfrm>
        </p:spPr>
        <p:txBody>
          <a:bodyPr/>
          <a:lstStyle/>
          <a:p>
            <a:r>
              <a:rPr lang="en-IN" dirty="0"/>
              <a:t>                   </a:t>
            </a:r>
            <a:r>
              <a:rPr lang="en-IN" b="1" dirty="0"/>
              <a:t>4. Practical Motivation</a:t>
            </a:r>
          </a:p>
        </p:txBody>
      </p:sp>
      <p:sp>
        <p:nvSpPr>
          <p:cNvPr id="3" name="Content Placeholder 2">
            <a:extLst>
              <a:ext uri="{FF2B5EF4-FFF2-40B4-BE49-F238E27FC236}">
                <a16:creationId xmlns:a16="http://schemas.microsoft.com/office/drawing/2014/main" id="{90D7AF1B-29D8-BAF1-A301-7F03B70842FA}"/>
              </a:ext>
            </a:extLst>
          </p:cNvPr>
          <p:cNvSpPr>
            <a:spLocks noGrp="1"/>
          </p:cNvSpPr>
          <p:nvPr>
            <p:ph idx="1"/>
          </p:nvPr>
        </p:nvSpPr>
        <p:spPr>
          <a:xfrm>
            <a:off x="389467" y="1100668"/>
            <a:ext cx="10964333" cy="5579532"/>
          </a:xfrm>
        </p:spPr>
        <p:txBody>
          <a:bodyPr/>
          <a:lstStyle/>
          <a:p>
            <a:r>
              <a:rPr lang="en-US" sz="1800" dirty="0"/>
              <a:t>Modern security tools rely heavily on signature-based detection. If a payload is slightly modified, encoded, or obfuscated, traditional detection methods may fail.</a:t>
            </a:r>
          </a:p>
          <a:p>
            <a:r>
              <a:rPr lang="en-US" sz="1800" dirty="0"/>
              <a:t>This project helps:</a:t>
            </a:r>
          </a:p>
          <a:p>
            <a:r>
              <a:rPr lang="en-US" sz="1800" dirty="0"/>
              <a:t>Students understand real-world attack techniques.</a:t>
            </a:r>
          </a:p>
          <a:p>
            <a:r>
              <a:rPr lang="en-US" sz="1800" dirty="0"/>
              <a:t>Security researchers analyze detection bypass strategies.</a:t>
            </a:r>
          </a:p>
          <a:p>
            <a:r>
              <a:rPr lang="en-US" sz="1800" dirty="0"/>
              <a:t>Developers improve malware detection systems.</a:t>
            </a:r>
          </a:p>
          <a:p>
            <a:r>
              <a:rPr lang="en-US" sz="1800" dirty="0"/>
              <a:t>Ethical hackers simulate evasion techniques in lab environments</a:t>
            </a:r>
            <a:r>
              <a:rPr lang="en-US" dirty="0"/>
              <a:t>.</a:t>
            </a:r>
          </a:p>
          <a:p>
            <a:r>
              <a:rPr lang="en-US" sz="1800" dirty="0"/>
              <a:t>This project helps:</a:t>
            </a:r>
          </a:p>
          <a:p>
            <a:r>
              <a:rPr lang="en-US" sz="1800" dirty="0"/>
              <a:t>Cybersecurity students understand real-world evasion</a:t>
            </a:r>
          </a:p>
          <a:p>
            <a:r>
              <a:rPr lang="en-US" sz="1800" dirty="0"/>
              <a:t>Security researchers test detection mechanisms</a:t>
            </a:r>
          </a:p>
          <a:p>
            <a:r>
              <a:rPr lang="en-US" sz="1800" dirty="0"/>
              <a:t>Developers design stronger defense systems</a:t>
            </a:r>
          </a:p>
          <a:p>
            <a:endParaRPr lang="en-US" sz="1800" dirty="0"/>
          </a:p>
          <a:p>
            <a:endParaRPr lang="en-IN" dirty="0"/>
          </a:p>
        </p:txBody>
      </p:sp>
    </p:spTree>
    <p:extLst>
      <p:ext uri="{BB962C8B-B14F-4D97-AF65-F5344CB8AC3E}">
        <p14:creationId xmlns:p14="http://schemas.microsoft.com/office/powerpoint/2010/main" val="3127129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5C08A-C0A1-57EB-2B3B-3F6516F74628}"/>
              </a:ext>
            </a:extLst>
          </p:cNvPr>
          <p:cNvSpPr>
            <a:spLocks noGrp="1"/>
          </p:cNvSpPr>
          <p:nvPr>
            <p:ph type="title"/>
          </p:nvPr>
        </p:nvSpPr>
        <p:spPr>
          <a:xfrm>
            <a:off x="838200" y="365125"/>
            <a:ext cx="10515600" cy="828675"/>
          </a:xfrm>
        </p:spPr>
        <p:txBody>
          <a:bodyPr/>
          <a:lstStyle/>
          <a:p>
            <a:r>
              <a:rPr lang="en-US" dirty="0"/>
              <a:t>                 </a:t>
            </a:r>
            <a:r>
              <a:rPr lang="en-US" b="1" dirty="0"/>
              <a:t>5. Scope of the Project</a:t>
            </a:r>
            <a:endParaRPr lang="en-IN" b="1" dirty="0"/>
          </a:p>
        </p:txBody>
      </p:sp>
      <p:sp>
        <p:nvSpPr>
          <p:cNvPr id="3" name="Content Placeholder 2">
            <a:extLst>
              <a:ext uri="{FF2B5EF4-FFF2-40B4-BE49-F238E27FC236}">
                <a16:creationId xmlns:a16="http://schemas.microsoft.com/office/drawing/2014/main" id="{2C0B8D9A-995A-1989-78F1-DC537AD8204F}"/>
              </a:ext>
            </a:extLst>
          </p:cNvPr>
          <p:cNvSpPr>
            <a:spLocks noGrp="1"/>
          </p:cNvSpPr>
          <p:nvPr>
            <p:ph idx="1"/>
          </p:nvPr>
        </p:nvSpPr>
        <p:spPr>
          <a:xfrm>
            <a:off x="508000" y="1193800"/>
            <a:ext cx="10845800" cy="5444067"/>
          </a:xfrm>
        </p:spPr>
        <p:txBody>
          <a:bodyPr>
            <a:normAutofit fontScale="25000" lnSpcReduction="20000"/>
          </a:bodyPr>
          <a:lstStyle/>
          <a:p>
            <a:r>
              <a:rPr lang="en-IN" sz="4500" dirty="0"/>
              <a:t>Implement encoding algorithms.</a:t>
            </a:r>
          </a:p>
          <a:p>
            <a:r>
              <a:rPr lang="en-IN" sz="4500" dirty="0"/>
              <a:t>Provide command-line interface.</a:t>
            </a:r>
          </a:p>
          <a:p>
            <a:r>
              <a:rPr lang="en-IN" sz="4500" dirty="0"/>
              <a:t>Compare encoded outputs.</a:t>
            </a:r>
          </a:p>
          <a:p>
            <a:r>
              <a:rPr lang="en-IN" sz="4500" dirty="0" err="1"/>
              <a:t>Analyze</a:t>
            </a:r>
            <a:r>
              <a:rPr lang="en-IN" sz="4500" dirty="0"/>
              <a:t> detection evasion conceptually.</a:t>
            </a:r>
          </a:p>
          <a:p>
            <a:r>
              <a:rPr lang="en-IN" sz="4500" dirty="0"/>
              <a:t>Work in controlled lab environment (Kali Linux / Windows).</a:t>
            </a:r>
          </a:p>
          <a:p>
            <a:r>
              <a:rPr lang="en-IN" sz="4500" dirty="0"/>
              <a:t>Limitations:</a:t>
            </a:r>
          </a:p>
          <a:p>
            <a:r>
              <a:rPr lang="en-IN" sz="4500" dirty="0"/>
              <a:t>Not a real exploitation tool.</a:t>
            </a:r>
          </a:p>
          <a:p>
            <a:r>
              <a:rPr lang="en-IN" sz="4500" dirty="0"/>
              <a:t>For educational and research purposes only.</a:t>
            </a:r>
          </a:p>
          <a:p>
            <a:r>
              <a:rPr lang="en-IN" sz="4500" dirty="0"/>
              <a:t>The framework includes:</a:t>
            </a:r>
          </a:p>
          <a:p>
            <a:r>
              <a:rPr lang="en-IN" sz="4500" dirty="0"/>
              <a:t>Basic encoding techniques</a:t>
            </a:r>
          </a:p>
          <a:p>
            <a:r>
              <a:rPr lang="en-IN" sz="4500" dirty="0"/>
              <a:t>Multiple layered encoding</a:t>
            </a:r>
          </a:p>
          <a:p>
            <a:r>
              <a:rPr lang="en-IN" sz="4500" dirty="0"/>
              <a:t>Payload transformation</a:t>
            </a:r>
          </a:p>
          <a:p>
            <a:r>
              <a:rPr lang="en-IN" sz="4500" dirty="0"/>
              <a:t>Obfuscation methods</a:t>
            </a:r>
          </a:p>
          <a:p>
            <a:r>
              <a:rPr lang="en-IN" sz="4500" dirty="0"/>
              <a:t>Logging and output comparison</a:t>
            </a:r>
          </a:p>
          <a:p>
            <a:r>
              <a:rPr lang="en-IN" sz="4500" dirty="0"/>
              <a:t>Out of Scope:</a:t>
            </a:r>
          </a:p>
          <a:p>
            <a:r>
              <a:rPr lang="en-IN" sz="4500" dirty="0"/>
              <a:t>Real malware creation</a:t>
            </a:r>
          </a:p>
          <a:p>
            <a:r>
              <a:rPr lang="en-IN" sz="4500" dirty="0"/>
              <a:t>Exploit development</a:t>
            </a:r>
          </a:p>
          <a:p>
            <a:r>
              <a:rPr lang="en-IN" sz="4500" dirty="0"/>
              <a:t>Illegal usage</a:t>
            </a:r>
          </a:p>
          <a:p>
            <a:endParaRPr lang="en-IN" dirty="0"/>
          </a:p>
        </p:txBody>
      </p:sp>
    </p:spTree>
    <p:extLst>
      <p:ext uri="{BB962C8B-B14F-4D97-AF65-F5344CB8AC3E}">
        <p14:creationId xmlns:p14="http://schemas.microsoft.com/office/powerpoint/2010/main" val="620710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C729-30A9-4006-E035-CA3C1365F5ED}"/>
              </a:ext>
            </a:extLst>
          </p:cNvPr>
          <p:cNvSpPr>
            <a:spLocks noGrp="1"/>
          </p:cNvSpPr>
          <p:nvPr>
            <p:ph type="title"/>
          </p:nvPr>
        </p:nvSpPr>
        <p:spPr>
          <a:xfrm>
            <a:off x="838200" y="365125"/>
            <a:ext cx="10515600" cy="727075"/>
          </a:xfrm>
        </p:spPr>
        <p:txBody>
          <a:bodyPr/>
          <a:lstStyle/>
          <a:p>
            <a:r>
              <a:rPr lang="en-US" b="1" dirty="0"/>
              <a:t>                 6.</a:t>
            </a:r>
            <a:r>
              <a:rPr lang="en-IN" b="1" dirty="0"/>
              <a:t> System Requirements</a:t>
            </a:r>
          </a:p>
        </p:txBody>
      </p:sp>
      <p:sp>
        <p:nvSpPr>
          <p:cNvPr id="3" name="Content Placeholder 2">
            <a:extLst>
              <a:ext uri="{FF2B5EF4-FFF2-40B4-BE49-F238E27FC236}">
                <a16:creationId xmlns:a16="http://schemas.microsoft.com/office/drawing/2014/main" id="{054E3B46-4933-484D-DDEF-A745598CE477}"/>
              </a:ext>
            </a:extLst>
          </p:cNvPr>
          <p:cNvSpPr>
            <a:spLocks noGrp="1"/>
          </p:cNvSpPr>
          <p:nvPr>
            <p:ph idx="1"/>
          </p:nvPr>
        </p:nvSpPr>
        <p:spPr>
          <a:xfrm>
            <a:off x="389467" y="1092200"/>
            <a:ext cx="10964333" cy="5655733"/>
          </a:xfrm>
        </p:spPr>
        <p:txBody>
          <a:bodyPr>
            <a:normAutofit fontScale="92500" lnSpcReduction="10000"/>
          </a:bodyPr>
          <a:lstStyle/>
          <a:p>
            <a:r>
              <a:rPr lang="en-IN" sz="2200" b="1" dirty="0"/>
              <a:t>Hardware Requirements</a:t>
            </a:r>
          </a:p>
          <a:p>
            <a:r>
              <a:rPr lang="en-IN" sz="2200" dirty="0"/>
              <a:t>Minimum 4GB RAM</a:t>
            </a:r>
          </a:p>
          <a:p>
            <a:r>
              <a:rPr lang="en-IN" sz="2200" dirty="0"/>
              <a:t>20GB Free Disk Space</a:t>
            </a:r>
          </a:p>
          <a:p>
            <a:r>
              <a:rPr lang="en-IN" sz="2200" dirty="0"/>
              <a:t>Intel i3 or above processor</a:t>
            </a:r>
          </a:p>
          <a:p>
            <a:r>
              <a:rPr lang="en-IN" sz="2200" b="1" dirty="0"/>
              <a:t>Software Requirements</a:t>
            </a:r>
          </a:p>
          <a:p>
            <a:r>
              <a:rPr lang="en-IN" sz="2200" dirty="0"/>
              <a:t> Windows 10+</a:t>
            </a:r>
          </a:p>
          <a:p>
            <a:r>
              <a:rPr lang="en-IN" sz="2200" dirty="0"/>
              <a:t>Python 3.x</a:t>
            </a:r>
          </a:p>
          <a:p>
            <a:r>
              <a:rPr lang="en-IN" sz="2200" dirty="0"/>
              <a:t> Terminal</a:t>
            </a:r>
          </a:p>
          <a:p>
            <a:r>
              <a:rPr lang="en-IN" sz="2200" dirty="0"/>
              <a:t>Basic command-line knowledge</a:t>
            </a:r>
          </a:p>
          <a:p>
            <a:r>
              <a:rPr lang="en-IN" sz="2200" dirty="0"/>
              <a:t>Optional Tools:</a:t>
            </a:r>
          </a:p>
          <a:p>
            <a:r>
              <a:rPr lang="en-IN" sz="2200" dirty="0"/>
              <a:t>Wireshark (for analysis)</a:t>
            </a:r>
          </a:p>
          <a:p>
            <a:r>
              <a:rPr lang="en-IN" sz="2200" dirty="0" err="1"/>
              <a:t>VirusTotal</a:t>
            </a:r>
            <a:r>
              <a:rPr lang="en-IN" sz="2200" dirty="0"/>
              <a:t> (for detection comparison)</a:t>
            </a:r>
          </a:p>
          <a:p>
            <a:r>
              <a:rPr lang="en-IN" sz="2200" dirty="0"/>
              <a:t>VirtualBox for lab setup</a:t>
            </a:r>
          </a:p>
          <a:p>
            <a:endParaRPr lang="en-IN" dirty="0"/>
          </a:p>
        </p:txBody>
      </p:sp>
    </p:spTree>
    <p:extLst>
      <p:ext uri="{BB962C8B-B14F-4D97-AF65-F5344CB8AC3E}">
        <p14:creationId xmlns:p14="http://schemas.microsoft.com/office/powerpoint/2010/main" val="172316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29D8-6F24-A9DA-9714-4A49118C92DA}"/>
              </a:ext>
            </a:extLst>
          </p:cNvPr>
          <p:cNvSpPr>
            <a:spLocks noGrp="1"/>
          </p:cNvSpPr>
          <p:nvPr>
            <p:ph type="title"/>
          </p:nvPr>
        </p:nvSpPr>
        <p:spPr>
          <a:xfrm>
            <a:off x="838200" y="365125"/>
            <a:ext cx="10515600" cy="904875"/>
          </a:xfrm>
        </p:spPr>
        <p:txBody>
          <a:bodyPr/>
          <a:lstStyle/>
          <a:p>
            <a:r>
              <a:rPr lang="en-US" dirty="0"/>
              <a:t>                        </a:t>
            </a:r>
            <a:r>
              <a:rPr lang="en-US" b="1" dirty="0"/>
              <a:t>7.</a:t>
            </a:r>
            <a:r>
              <a:rPr lang="en-IN" b="1" dirty="0"/>
              <a:t> Technology Used</a:t>
            </a:r>
          </a:p>
        </p:txBody>
      </p:sp>
      <p:sp>
        <p:nvSpPr>
          <p:cNvPr id="4" name="Rectangle 1">
            <a:extLst>
              <a:ext uri="{FF2B5EF4-FFF2-40B4-BE49-F238E27FC236}">
                <a16:creationId xmlns:a16="http://schemas.microsoft.com/office/drawing/2014/main" id="{74463A42-AEF2-AFBB-F30E-3A28B9C6E858}"/>
              </a:ext>
            </a:extLst>
          </p:cNvPr>
          <p:cNvSpPr>
            <a:spLocks noGrp="1" noChangeArrowheads="1"/>
          </p:cNvSpPr>
          <p:nvPr>
            <p:ph idx="1"/>
          </p:nvPr>
        </p:nvSpPr>
        <p:spPr bwMode="auto">
          <a:xfrm>
            <a:off x="550333" y="2847132"/>
            <a:ext cx="1080346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Platform:</a:t>
            </a:r>
            <a:r>
              <a:rPr kumimoji="0" lang="en-US" altLang="en-US" sz="1800" b="0" i="0" u="none" strike="noStrike" cap="none" normalizeH="0" baseline="0" dirty="0">
                <a:ln>
                  <a:noFill/>
                </a:ln>
                <a:solidFill>
                  <a:schemeClr val="tx1"/>
                </a:solidFill>
                <a:effectLst/>
                <a:latin typeface="Arial" panose="020B0604020202020204" pitchFamily="34" charset="0"/>
              </a:rPr>
              <a:t> Kali Linux / Windows CMD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Libraries Used: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base64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hashlib</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os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argparse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Virtual Machine for safe testing</a:t>
            </a:r>
          </a:p>
        </p:txBody>
      </p:sp>
    </p:spTree>
    <p:extLst>
      <p:ext uri="{BB962C8B-B14F-4D97-AF65-F5344CB8AC3E}">
        <p14:creationId xmlns:p14="http://schemas.microsoft.com/office/powerpoint/2010/main" val="1219944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F0E8-B81F-D829-50C3-CA5B11EBC3D1}"/>
              </a:ext>
            </a:extLst>
          </p:cNvPr>
          <p:cNvSpPr>
            <a:spLocks noGrp="1"/>
          </p:cNvSpPr>
          <p:nvPr>
            <p:ph type="title"/>
          </p:nvPr>
        </p:nvSpPr>
        <p:spPr>
          <a:xfrm>
            <a:off x="838200" y="365126"/>
            <a:ext cx="10515600" cy="896408"/>
          </a:xfrm>
        </p:spPr>
        <p:txBody>
          <a:bodyPr/>
          <a:lstStyle/>
          <a:p>
            <a:r>
              <a:rPr lang="en-US" b="1" dirty="0"/>
              <a:t>                   8.</a:t>
            </a:r>
            <a:r>
              <a:rPr lang="en-IN" b="1" dirty="0"/>
              <a:t> Module Description</a:t>
            </a:r>
          </a:p>
        </p:txBody>
      </p:sp>
      <p:sp>
        <p:nvSpPr>
          <p:cNvPr id="3" name="Content Placeholder 2">
            <a:extLst>
              <a:ext uri="{FF2B5EF4-FFF2-40B4-BE49-F238E27FC236}">
                <a16:creationId xmlns:a16="http://schemas.microsoft.com/office/drawing/2014/main" id="{5D31425A-DB29-FE96-9218-0C9060403D6A}"/>
              </a:ext>
            </a:extLst>
          </p:cNvPr>
          <p:cNvSpPr>
            <a:spLocks noGrp="1"/>
          </p:cNvSpPr>
          <p:nvPr>
            <p:ph idx="1"/>
          </p:nvPr>
        </p:nvSpPr>
        <p:spPr>
          <a:xfrm>
            <a:off x="372533" y="1151467"/>
            <a:ext cx="10981267" cy="5545666"/>
          </a:xfrm>
        </p:spPr>
        <p:txBody>
          <a:bodyPr>
            <a:normAutofit fontScale="85000" lnSpcReduction="20000"/>
          </a:bodyPr>
          <a:lstStyle/>
          <a:p>
            <a:r>
              <a:rPr lang="en-IN" b="1" dirty="0"/>
              <a:t>1. Input Module</a:t>
            </a:r>
          </a:p>
          <a:p>
            <a:r>
              <a:rPr lang="en-IN" dirty="0"/>
              <a:t>Accepts payload from user.</a:t>
            </a:r>
          </a:p>
          <a:p>
            <a:r>
              <a:rPr lang="en-IN" b="1" dirty="0"/>
              <a:t>2. Encoding Module</a:t>
            </a:r>
          </a:p>
          <a:p>
            <a:r>
              <a:rPr lang="en-IN" dirty="0"/>
              <a:t>Applies encoding algorithms:</a:t>
            </a:r>
          </a:p>
          <a:p>
            <a:r>
              <a:rPr lang="en-IN" dirty="0"/>
              <a:t>Base64 Encoding</a:t>
            </a:r>
          </a:p>
          <a:p>
            <a:r>
              <a:rPr lang="en-IN" dirty="0"/>
              <a:t>Hex Encoding</a:t>
            </a:r>
          </a:p>
          <a:p>
            <a:r>
              <a:rPr lang="en-IN" dirty="0"/>
              <a:t>XOR Encoding</a:t>
            </a:r>
          </a:p>
          <a:p>
            <a:r>
              <a:rPr lang="en-IN" dirty="0"/>
              <a:t>URL Encoding</a:t>
            </a:r>
          </a:p>
          <a:p>
            <a:r>
              <a:rPr lang="en-IN" b="1" dirty="0"/>
              <a:t>3. Obfuscation Module</a:t>
            </a:r>
          </a:p>
          <a:p>
            <a:r>
              <a:rPr lang="en-IN" dirty="0"/>
              <a:t>Applies:</a:t>
            </a:r>
          </a:p>
          <a:p>
            <a:r>
              <a:rPr lang="en-IN" dirty="0"/>
              <a:t>String manipulation</a:t>
            </a:r>
          </a:p>
          <a:p>
            <a:r>
              <a:rPr lang="en-IN" dirty="0"/>
              <a:t>Character replacement</a:t>
            </a:r>
          </a:p>
          <a:p>
            <a:r>
              <a:rPr lang="en-IN" dirty="0"/>
              <a:t>Randomization</a:t>
            </a:r>
          </a:p>
          <a:p>
            <a:r>
              <a:rPr lang="en-IN" b="1" dirty="0"/>
              <a:t>4. Output Module</a:t>
            </a:r>
          </a:p>
          <a:p>
            <a:r>
              <a:rPr lang="en-IN" dirty="0"/>
              <a:t>Displays encoded payload.</a:t>
            </a:r>
          </a:p>
          <a:p>
            <a:r>
              <a:rPr lang="en-IN" b="1" dirty="0"/>
              <a:t>5. Comparison Module</a:t>
            </a:r>
          </a:p>
          <a:p>
            <a:r>
              <a:rPr lang="en-IN" dirty="0"/>
              <a:t>Compares original and encoded payload length &amp; structure.</a:t>
            </a:r>
          </a:p>
          <a:p>
            <a:endParaRPr lang="en-IN" dirty="0"/>
          </a:p>
        </p:txBody>
      </p:sp>
    </p:spTree>
    <p:extLst>
      <p:ext uri="{BB962C8B-B14F-4D97-AF65-F5344CB8AC3E}">
        <p14:creationId xmlns:p14="http://schemas.microsoft.com/office/powerpoint/2010/main" val="1688284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07CEA-CCDC-F2FF-326B-5612CB93D780}"/>
              </a:ext>
            </a:extLst>
          </p:cNvPr>
          <p:cNvSpPr>
            <a:spLocks noGrp="1"/>
          </p:cNvSpPr>
          <p:nvPr>
            <p:ph type="title"/>
          </p:nvPr>
        </p:nvSpPr>
        <p:spPr>
          <a:xfrm>
            <a:off x="838200" y="152400"/>
            <a:ext cx="10515600" cy="922867"/>
          </a:xfrm>
        </p:spPr>
        <p:txBody>
          <a:bodyPr/>
          <a:lstStyle/>
          <a:p>
            <a:r>
              <a:rPr lang="en-US" dirty="0"/>
              <a:t>                 </a:t>
            </a:r>
            <a:r>
              <a:rPr lang="en-US" b="1" dirty="0"/>
              <a:t>9.</a:t>
            </a:r>
            <a:r>
              <a:rPr lang="en-IN" b="1" dirty="0"/>
              <a:t> Working of the System</a:t>
            </a:r>
          </a:p>
        </p:txBody>
      </p:sp>
      <p:sp>
        <p:nvSpPr>
          <p:cNvPr id="3" name="Content Placeholder 2">
            <a:extLst>
              <a:ext uri="{FF2B5EF4-FFF2-40B4-BE49-F238E27FC236}">
                <a16:creationId xmlns:a16="http://schemas.microsoft.com/office/drawing/2014/main" id="{03712793-A2AC-EEED-77B5-54B6E45E05FB}"/>
              </a:ext>
            </a:extLst>
          </p:cNvPr>
          <p:cNvSpPr>
            <a:spLocks noGrp="1"/>
          </p:cNvSpPr>
          <p:nvPr>
            <p:ph idx="1"/>
          </p:nvPr>
        </p:nvSpPr>
        <p:spPr>
          <a:xfrm>
            <a:off x="228600" y="1075266"/>
            <a:ext cx="11125200" cy="5503333"/>
          </a:xfrm>
        </p:spPr>
        <p:txBody>
          <a:bodyPr/>
          <a:lstStyle/>
          <a:p>
            <a:pPr marL="514350" indent="-514350">
              <a:buFont typeface="+mj-lt"/>
              <a:buAutoNum type="arabicPeriod"/>
            </a:pPr>
            <a:r>
              <a:rPr lang="en-IN" dirty="0"/>
              <a:t>User provides payload.</a:t>
            </a:r>
          </a:p>
          <a:p>
            <a:pPr marL="514350" indent="-514350">
              <a:buFont typeface="+mj-lt"/>
              <a:buAutoNum type="arabicPeriod"/>
            </a:pPr>
            <a:r>
              <a:rPr lang="en-IN" dirty="0"/>
              <a:t>System selects encoding method.</a:t>
            </a:r>
          </a:p>
          <a:p>
            <a:pPr marL="514350" indent="-514350">
              <a:buFont typeface="+mj-lt"/>
              <a:buAutoNum type="arabicPeriod"/>
            </a:pPr>
            <a:r>
              <a:rPr lang="en-IN" dirty="0"/>
              <a:t>Encoding algorithm transforms payload.</a:t>
            </a:r>
          </a:p>
          <a:p>
            <a:pPr marL="514350" indent="-514350">
              <a:buFont typeface="+mj-lt"/>
              <a:buAutoNum type="arabicPeriod"/>
            </a:pPr>
            <a:r>
              <a:rPr lang="en-IN" dirty="0"/>
              <a:t>Encoded output is generated.</a:t>
            </a:r>
          </a:p>
          <a:p>
            <a:pPr marL="514350" indent="-514350">
              <a:buFont typeface="+mj-lt"/>
              <a:buAutoNum type="arabicPeriod"/>
            </a:pPr>
            <a:r>
              <a:rPr lang="en-IN" dirty="0"/>
              <a:t>User can decode to verify integrity.</a:t>
            </a:r>
          </a:p>
          <a:p>
            <a:r>
              <a:rPr lang="en-IN" dirty="0"/>
              <a:t>Flow:</a:t>
            </a:r>
          </a:p>
          <a:p>
            <a:r>
              <a:rPr lang="en-IN" dirty="0"/>
              <a:t>Input → Encoding Algorithm → Encoded Payload → Output</a:t>
            </a:r>
          </a:p>
          <a:p>
            <a:endParaRPr lang="en-IN" dirty="0"/>
          </a:p>
        </p:txBody>
      </p:sp>
    </p:spTree>
    <p:extLst>
      <p:ext uri="{BB962C8B-B14F-4D97-AF65-F5344CB8AC3E}">
        <p14:creationId xmlns:p14="http://schemas.microsoft.com/office/powerpoint/2010/main" val="948952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4C040-C995-62B4-7E01-D56ED705B178}"/>
              </a:ext>
            </a:extLst>
          </p:cNvPr>
          <p:cNvSpPr>
            <a:spLocks noGrp="1"/>
          </p:cNvSpPr>
          <p:nvPr>
            <p:ph type="title"/>
          </p:nvPr>
        </p:nvSpPr>
        <p:spPr>
          <a:xfrm>
            <a:off x="838200" y="59267"/>
            <a:ext cx="10515600" cy="1134533"/>
          </a:xfrm>
        </p:spPr>
        <p:txBody>
          <a:bodyPr/>
          <a:lstStyle/>
          <a:p>
            <a:r>
              <a:rPr lang="en-US" b="1" dirty="0"/>
              <a:t>                 10.</a:t>
            </a:r>
            <a:r>
              <a:rPr lang="en-IN" b="1" dirty="0"/>
              <a:t> Program Code Overview</a:t>
            </a:r>
          </a:p>
        </p:txBody>
      </p:sp>
      <p:sp>
        <p:nvSpPr>
          <p:cNvPr id="3" name="Content Placeholder 2">
            <a:extLst>
              <a:ext uri="{FF2B5EF4-FFF2-40B4-BE49-F238E27FC236}">
                <a16:creationId xmlns:a16="http://schemas.microsoft.com/office/drawing/2014/main" id="{8516BA4F-9342-AB47-96BA-E90FBA4D4484}"/>
              </a:ext>
            </a:extLst>
          </p:cNvPr>
          <p:cNvSpPr>
            <a:spLocks noGrp="1"/>
          </p:cNvSpPr>
          <p:nvPr>
            <p:ph idx="1"/>
          </p:nvPr>
        </p:nvSpPr>
        <p:spPr>
          <a:xfrm>
            <a:off x="499533" y="1066800"/>
            <a:ext cx="10854267" cy="5520267"/>
          </a:xfrm>
        </p:spPr>
        <p:txBody>
          <a:bodyPr>
            <a:normAutofit/>
          </a:bodyPr>
          <a:lstStyle/>
          <a:p>
            <a:pPr marL="0" indent="0">
              <a:buNone/>
            </a:pPr>
            <a:r>
              <a:rPr lang="en-IN" dirty="0"/>
              <a:t>import base64</a:t>
            </a:r>
          </a:p>
          <a:p>
            <a:pPr marL="0" indent="0">
              <a:buNone/>
            </a:pPr>
            <a:r>
              <a:rPr lang="en-IN" dirty="0"/>
              <a:t>payload = input("Enter payload: ")</a:t>
            </a:r>
          </a:p>
          <a:p>
            <a:pPr marL="0" indent="0">
              <a:buNone/>
            </a:pPr>
            <a:r>
              <a:rPr lang="en-IN" dirty="0"/>
              <a:t>encoded = base64.b64encode(</a:t>
            </a:r>
            <a:r>
              <a:rPr lang="en-IN" dirty="0" err="1"/>
              <a:t>payload.encode</a:t>
            </a:r>
            <a:r>
              <a:rPr lang="en-IN" dirty="0"/>
              <a:t>())</a:t>
            </a:r>
          </a:p>
          <a:p>
            <a:pPr marL="0" indent="0">
              <a:buNone/>
            </a:pPr>
            <a:r>
              <a:rPr lang="en-IN" dirty="0"/>
              <a:t>print("Encoded Payload:", </a:t>
            </a:r>
            <a:r>
              <a:rPr lang="en-IN" dirty="0" err="1"/>
              <a:t>encoded.decode</a:t>
            </a:r>
            <a:r>
              <a:rPr lang="en-IN" dirty="0"/>
              <a:t>())</a:t>
            </a:r>
          </a:p>
          <a:p>
            <a:pPr marL="0" indent="0">
              <a:buNone/>
            </a:pPr>
            <a:r>
              <a:rPr lang="en-IN" dirty="0"/>
              <a:t>def </a:t>
            </a:r>
            <a:r>
              <a:rPr lang="en-IN" dirty="0" err="1"/>
              <a:t>xor_encode</a:t>
            </a:r>
            <a:r>
              <a:rPr lang="en-IN" dirty="0"/>
              <a:t>(data, key):</a:t>
            </a:r>
          </a:p>
          <a:p>
            <a:pPr marL="0" indent="0">
              <a:buNone/>
            </a:pPr>
            <a:r>
              <a:rPr lang="en-IN" dirty="0"/>
              <a:t>    return ''.join(chr(</a:t>
            </a:r>
            <a:r>
              <a:rPr lang="en-IN" dirty="0" err="1"/>
              <a:t>ord</a:t>
            </a:r>
            <a:r>
              <a:rPr lang="en-IN" dirty="0"/>
              <a:t>(c) ^ key) for c in data)</a:t>
            </a:r>
          </a:p>
          <a:p>
            <a:pPr marL="0" indent="0">
              <a:buNone/>
            </a:pPr>
            <a:endParaRPr lang="en-IN" dirty="0"/>
          </a:p>
          <a:p>
            <a:pPr marL="0" indent="0">
              <a:buNone/>
            </a:pPr>
            <a:r>
              <a:rPr lang="en-IN" dirty="0"/>
              <a:t>payload = input("Enter payload: ")</a:t>
            </a:r>
          </a:p>
          <a:p>
            <a:pPr marL="0" indent="0">
              <a:buNone/>
            </a:pPr>
            <a:r>
              <a:rPr lang="en-IN" dirty="0"/>
              <a:t>key = 5</a:t>
            </a:r>
          </a:p>
          <a:p>
            <a:pPr marL="0" indent="0">
              <a:buNone/>
            </a:pPr>
            <a:r>
              <a:rPr lang="en-IN" dirty="0"/>
              <a:t>encoded = </a:t>
            </a:r>
            <a:r>
              <a:rPr lang="en-IN" dirty="0" err="1"/>
              <a:t>xor_encode</a:t>
            </a:r>
            <a:r>
              <a:rPr lang="en-IN" dirty="0"/>
              <a:t>(payload, key)</a:t>
            </a:r>
          </a:p>
          <a:p>
            <a:pPr marL="0" indent="0">
              <a:buNone/>
            </a:pPr>
            <a:r>
              <a:rPr lang="en-IN" dirty="0"/>
              <a:t>print("XOR Encoded:", encoded)</a:t>
            </a:r>
          </a:p>
          <a:p>
            <a:endParaRPr lang="en-IN" dirty="0"/>
          </a:p>
        </p:txBody>
      </p:sp>
    </p:spTree>
    <p:extLst>
      <p:ext uri="{BB962C8B-B14F-4D97-AF65-F5344CB8AC3E}">
        <p14:creationId xmlns:p14="http://schemas.microsoft.com/office/powerpoint/2010/main" val="2419743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6D1C-D2B7-8C9B-A092-AC6484C462DC}"/>
              </a:ext>
            </a:extLst>
          </p:cNvPr>
          <p:cNvSpPr>
            <a:spLocks noGrp="1"/>
          </p:cNvSpPr>
          <p:nvPr>
            <p:ph type="title"/>
          </p:nvPr>
        </p:nvSpPr>
        <p:spPr>
          <a:xfrm>
            <a:off x="838200" y="365126"/>
            <a:ext cx="10515600" cy="811742"/>
          </a:xfrm>
        </p:spPr>
        <p:txBody>
          <a:bodyPr/>
          <a:lstStyle/>
          <a:p>
            <a:r>
              <a:rPr lang="en-US" dirty="0"/>
              <a:t>                         </a:t>
            </a:r>
            <a:r>
              <a:rPr lang="en-US" b="1" dirty="0"/>
              <a:t>11.</a:t>
            </a:r>
            <a:r>
              <a:rPr lang="en-IN" b="1" dirty="0"/>
              <a:t> Sample Output</a:t>
            </a:r>
          </a:p>
        </p:txBody>
      </p:sp>
      <p:pic>
        <p:nvPicPr>
          <p:cNvPr id="5" name="Content Placeholder 4">
            <a:extLst>
              <a:ext uri="{FF2B5EF4-FFF2-40B4-BE49-F238E27FC236}">
                <a16:creationId xmlns:a16="http://schemas.microsoft.com/office/drawing/2014/main" id="{14E63B8C-BCE4-4410-6CD0-4D2A955DF5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76338"/>
            <a:ext cx="9795933" cy="5316537"/>
          </a:xfrm>
          <a:prstGeom prst="rect">
            <a:avLst/>
          </a:prstGeom>
        </p:spPr>
      </p:pic>
    </p:spTree>
    <p:extLst>
      <p:ext uri="{BB962C8B-B14F-4D97-AF65-F5344CB8AC3E}">
        <p14:creationId xmlns:p14="http://schemas.microsoft.com/office/powerpoint/2010/main" val="1023657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F0BC-8EF8-A0D2-0580-45C1706A5761}"/>
              </a:ext>
            </a:extLst>
          </p:cNvPr>
          <p:cNvSpPr>
            <a:spLocks noGrp="1"/>
          </p:cNvSpPr>
          <p:nvPr>
            <p:ph type="title"/>
          </p:nvPr>
        </p:nvSpPr>
        <p:spPr>
          <a:xfrm>
            <a:off x="838200" y="279400"/>
            <a:ext cx="10515600" cy="787400"/>
          </a:xfrm>
        </p:spPr>
        <p:txBody>
          <a:bodyPr/>
          <a:lstStyle/>
          <a:p>
            <a:r>
              <a:rPr lang="en-IN" b="1" dirty="0"/>
              <a:t>                            12. Advantages</a:t>
            </a:r>
          </a:p>
        </p:txBody>
      </p:sp>
      <p:sp>
        <p:nvSpPr>
          <p:cNvPr id="3" name="Content Placeholder 2">
            <a:extLst>
              <a:ext uri="{FF2B5EF4-FFF2-40B4-BE49-F238E27FC236}">
                <a16:creationId xmlns:a16="http://schemas.microsoft.com/office/drawing/2014/main" id="{AF72B556-7708-8D65-6068-3950B76D4350}"/>
              </a:ext>
            </a:extLst>
          </p:cNvPr>
          <p:cNvSpPr>
            <a:spLocks noGrp="1"/>
          </p:cNvSpPr>
          <p:nvPr>
            <p:ph idx="1"/>
          </p:nvPr>
        </p:nvSpPr>
        <p:spPr>
          <a:xfrm>
            <a:off x="84667" y="1066800"/>
            <a:ext cx="11269133" cy="5681133"/>
          </a:xfrm>
        </p:spPr>
        <p:txBody>
          <a:bodyPr/>
          <a:lstStyle/>
          <a:p>
            <a:r>
              <a:rPr lang="en-US" sz="2400" dirty="0"/>
              <a:t>Easy to understand encoding techniques.</a:t>
            </a:r>
          </a:p>
          <a:p>
            <a:r>
              <a:rPr lang="en-US" sz="2400" dirty="0"/>
              <a:t>Practical hands-on learning.</a:t>
            </a:r>
          </a:p>
          <a:p>
            <a:r>
              <a:rPr lang="en-US" sz="2400" dirty="0"/>
              <a:t>Improves cybersecurity knowledge.</a:t>
            </a:r>
          </a:p>
          <a:p>
            <a:r>
              <a:rPr lang="en-US" sz="2400" dirty="0"/>
              <a:t>Modular and extendable.</a:t>
            </a:r>
          </a:p>
          <a:p>
            <a:r>
              <a:rPr lang="en-US" sz="2400" dirty="0"/>
              <a:t>Helps understand detection evasion.</a:t>
            </a:r>
          </a:p>
          <a:p>
            <a:r>
              <a:rPr lang="en-US" sz="2400" dirty="0"/>
              <a:t>Educational cybersecurity tool</a:t>
            </a:r>
          </a:p>
          <a:p>
            <a:r>
              <a:rPr lang="en-US" sz="2400" dirty="0"/>
              <a:t>Modular design</a:t>
            </a:r>
          </a:p>
          <a:p>
            <a:r>
              <a:rPr lang="en-US" sz="2400" dirty="0"/>
              <a:t>Easy to extend</a:t>
            </a:r>
          </a:p>
          <a:p>
            <a:r>
              <a:rPr lang="en-US" sz="2400" dirty="0"/>
              <a:t>Safe research-based implementation</a:t>
            </a:r>
          </a:p>
          <a:p>
            <a:endParaRPr lang="en-US" dirty="0"/>
          </a:p>
          <a:p>
            <a:endParaRPr lang="en-IN" dirty="0"/>
          </a:p>
        </p:txBody>
      </p:sp>
    </p:spTree>
    <p:extLst>
      <p:ext uri="{BB962C8B-B14F-4D97-AF65-F5344CB8AC3E}">
        <p14:creationId xmlns:p14="http://schemas.microsoft.com/office/powerpoint/2010/main" val="27167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418A8-010B-179A-90D5-349BE5CC5F50}"/>
              </a:ext>
            </a:extLst>
          </p:cNvPr>
          <p:cNvSpPr>
            <a:spLocks noGrp="1"/>
          </p:cNvSpPr>
          <p:nvPr>
            <p:ph type="title"/>
          </p:nvPr>
        </p:nvSpPr>
        <p:spPr>
          <a:xfrm>
            <a:off x="838200" y="365126"/>
            <a:ext cx="10515600" cy="820208"/>
          </a:xfrm>
        </p:spPr>
        <p:txBody>
          <a:bodyPr/>
          <a:lstStyle/>
          <a:p>
            <a:r>
              <a:rPr lang="en-IN" dirty="0"/>
              <a:t>                           </a:t>
            </a:r>
            <a:r>
              <a:rPr lang="en-IN" b="1" dirty="0"/>
              <a:t>13. Limitations</a:t>
            </a:r>
          </a:p>
        </p:txBody>
      </p:sp>
      <p:sp>
        <p:nvSpPr>
          <p:cNvPr id="3" name="Content Placeholder 2">
            <a:extLst>
              <a:ext uri="{FF2B5EF4-FFF2-40B4-BE49-F238E27FC236}">
                <a16:creationId xmlns:a16="http://schemas.microsoft.com/office/drawing/2014/main" id="{DEB7D492-15E7-5922-49EA-B0932F37CE0C}"/>
              </a:ext>
            </a:extLst>
          </p:cNvPr>
          <p:cNvSpPr>
            <a:spLocks noGrp="1"/>
          </p:cNvSpPr>
          <p:nvPr>
            <p:ph idx="1"/>
          </p:nvPr>
        </p:nvSpPr>
        <p:spPr>
          <a:xfrm>
            <a:off x="262467" y="1185334"/>
            <a:ext cx="11091333" cy="5307540"/>
          </a:xfrm>
        </p:spPr>
        <p:txBody>
          <a:bodyPr>
            <a:normAutofit fontScale="92500" lnSpcReduction="20000"/>
          </a:bodyPr>
          <a:lstStyle/>
          <a:p>
            <a:r>
              <a:rPr lang="en-US" b="1" dirty="0"/>
              <a:t>1. Limited to Basic Encoding</a:t>
            </a:r>
          </a:p>
          <a:p>
            <a:r>
              <a:rPr lang="en-US" dirty="0"/>
              <a:t>The framework includes only basic encoding techniques and does not implement advanced cryptographic or polymorphic methods.</a:t>
            </a:r>
          </a:p>
          <a:p>
            <a:r>
              <a:rPr lang="en-US" b="1" dirty="0"/>
              <a:t>2. Does Not Guarantee Real-World Bypass</a:t>
            </a:r>
          </a:p>
          <a:p>
            <a:r>
              <a:rPr lang="en-US" dirty="0"/>
              <a:t>Modern security systems use machine learning and behavioral analysis. Simple encoding alone may not bypass advanced detection systems.</a:t>
            </a:r>
          </a:p>
          <a:p>
            <a:r>
              <a:rPr lang="en-US" b="1" dirty="0"/>
              <a:t>3. No Real Exploit Integration</a:t>
            </a:r>
          </a:p>
          <a:p>
            <a:r>
              <a:rPr lang="en-US" dirty="0"/>
              <a:t>The framework does not generate real exploit payloads. It works with sample text-based payloads only.</a:t>
            </a:r>
          </a:p>
          <a:p>
            <a:r>
              <a:rPr lang="en-US" b="1" dirty="0"/>
              <a:t>4. Controlled Environment Requirement</a:t>
            </a:r>
          </a:p>
          <a:p>
            <a:r>
              <a:rPr lang="en-US" dirty="0"/>
              <a:t>The system must be used in a lab or virtual machine environment. It should not be used irresponsibly.</a:t>
            </a:r>
          </a:p>
          <a:p>
            <a:r>
              <a:rPr lang="en-US" b="1" dirty="0"/>
              <a:t>5. No Automated Detection Analysis</a:t>
            </a:r>
          </a:p>
          <a:p>
            <a:r>
              <a:rPr lang="en-US" dirty="0"/>
              <a:t>The project does not automatically test payloads against live antivirus engines.</a:t>
            </a:r>
          </a:p>
          <a:p>
            <a:r>
              <a:rPr lang="en-US" b="1" dirty="0"/>
              <a:t>6. Performance Constraints</a:t>
            </a:r>
          </a:p>
          <a:p>
            <a:r>
              <a:rPr lang="en-US" dirty="0"/>
              <a:t>Large payloads may require additional optimization.</a:t>
            </a:r>
          </a:p>
          <a:p>
            <a:r>
              <a:rPr lang="en-US" b="1" dirty="0"/>
              <a:t>7. Legal and Ethical Boundaries</a:t>
            </a:r>
          </a:p>
          <a:p>
            <a:r>
              <a:rPr lang="en-US" dirty="0"/>
              <a:t>The project must be used strictly for educational and defensive research purposes.</a:t>
            </a:r>
          </a:p>
          <a:p>
            <a:endParaRPr lang="en-US" dirty="0"/>
          </a:p>
        </p:txBody>
      </p:sp>
    </p:spTree>
    <p:extLst>
      <p:ext uri="{BB962C8B-B14F-4D97-AF65-F5344CB8AC3E}">
        <p14:creationId xmlns:p14="http://schemas.microsoft.com/office/powerpoint/2010/main" val="110086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653D-5B67-7850-39D7-9366BF1B6D86}"/>
              </a:ext>
            </a:extLst>
          </p:cNvPr>
          <p:cNvSpPr>
            <a:spLocks noGrp="1"/>
          </p:cNvSpPr>
          <p:nvPr>
            <p:ph type="title"/>
          </p:nvPr>
        </p:nvSpPr>
        <p:spPr>
          <a:xfrm>
            <a:off x="838200" y="365126"/>
            <a:ext cx="10515600" cy="718608"/>
          </a:xfrm>
        </p:spPr>
        <p:txBody>
          <a:bodyPr/>
          <a:lstStyle/>
          <a:p>
            <a:r>
              <a:rPr lang="en-US" b="1" dirty="0"/>
              <a:t>                                14.Applications</a:t>
            </a:r>
            <a:endParaRPr lang="en-IN" b="1" dirty="0"/>
          </a:p>
        </p:txBody>
      </p:sp>
      <p:sp>
        <p:nvSpPr>
          <p:cNvPr id="3" name="Content Placeholder 2">
            <a:extLst>
              <a:ext uri="{FF2B5EF4-FFF2-40B4-BE49-F238E27FC236}">
                <a16:creationId xmlns:a16="http://schemas.microsoft.com/office/drawing/2014/main" id="{61968BA4-B733-A491-575F-774771D46729}"/>
              </a:ext>
            </a:extLst>
          </p:cNvPr>
          <p:cNvSpPr>
            <a:spLocks noGrp="1"/>
          </p:cNvSpPr>
          <p:nvPr>
            <p:ph idx="1"/>
          </p:nvPr>
        </p:nvSpPr>
        <p:spPr>
          <a:xfrm>
            <a:off x="177800" y="1193800"/>
            <a:ext cx="11176000" cy="4983163"/>
          </a:xfrm>
        </p:spPr>
        <p:txBody>
          <a:bodyPr>
            <a:normAutofit fontScale="85000" lnSpcReduction="20000"/>
          </a:bodyPr>
          <a:lstStyle/>
          <a:p>
            <a:pPr marL="0" indent="0">
              <a:buNone/>
            </a:pPr>
            <a:endParaRPr lang="en-US" dirty="0"/>
          </a:p>
          <a:p>
            <a:r>
              <a:rPr lang="en-US" b="1" dirty="0"/>
              <a:t>1. Limited to Basic Encoding</a:t>
            </a:r>
          </a:p>
          <a:p>
            <a:r>
              <a:rPr lang="en-US" dirty="0"/>
              <a:t>The framework includes only basic encoding techniques and does not implement advanced cryptographic or polymorphic methods.</a:t>
            </a:r>
          </a:p>
          <a:p>
            <a:r>
              <a:rPr lang="en-US" b="1" dirty="0"/>
              <a:t>2. Does Not Guarantee Real-World Bypass</a:t>
            </a:r>
          </a:p>
          <a:p>
            <a:r>
              <a:rPr lang="en-US" dirty="0"/>
              <a:t>Modern security systems use machine learning and behavioral analysis. Simple encoding alone may not bypass advanced detection systems.</a:t>
            </a:r>
          </a:p>
          <a:p>
            <a:r>
              <a:rPr lang="en-US" b="1" dirty="0"/>
              <a:t>3. No Real Exploit Integration</a:t>
            </a:r>
          </a:p>
          <a:p>
            <a:r>
              <a:rPr lang="en-US" dirty="0"/>
              <a:t>The framework does not generate real exploit payloads. It works with sample text-based payloads only.</a:t>
            </a:r>
          </a:p>
          <a:p>
            <a:r>
              <a:rPr lang="en-US" b="1" dirty="0"/>
              <a:t>4. Controlled Environment Requirement</a:t>
            </a:r>
          </a:p>
          <a:p>
            <a:r>
              <a:rPr lang="en-US" dirty="0"/>
              <a:t>The system must be used in a lab or virtual machine environment. It should not be used irresponsibly.</a:t>
            </a:r>
          </a:p>
          <a:p>
            <a:r>
              <a:rPr lang="en-US" b="1" dirty="0"/>
              <a:t>5. No Automated Detection Analysis</a:t>
            </a:r>
          </a:p>
          <a:p>
            <a:r>
              <a:rPr lang="en-US" dirty="0"/>
              <a:t>The project does not automatically test payloads against live antivirus engines.</a:t>
            </a:r>
          </a:p>
          <a:p>
            <a:r>
              <a:rPr lang="en-US" b="1" dirty="0"/>
              <a:t>6. Performance Constraints</a:t>
            </a:r>
          </a:p>
          <a:p>
            <a:r>
              <a:rPr lang="en-US" dirty="0"/>
              <a:t>Large payloads may require additional optimization.</a:t>
            </a:r>
          </a:p>
          <a:p>
            <a:r>
              <a:rPr lang="en-US" b="1" dirty="0"/>
              <a:t>7. Legal and Ethical Boundaries</a:t>
            </a:r>
          </a:p>
          <a:p>
            <a:r>
              <a:rPr lang="en-US" dirty="0"/>
              <a:t>The project must be used strictly for educational and defensive research purposes</a:t>
            </a:r>
          </a:p>
          <a:p>
            <a:endParaRPr lang="en-IN" dirty="0"/>
          </a:p>
        </p:txBody>
      </p:sp>
    </p:spTree>
    <p:extLst>
      <p:ext uri="{BB962C8B-B14F-4D97-AF65-F5344CB8AC3E}">
        <p14:creationId xmlns:p14="http://schemas.microsoft.com/office/powerpoint/2010/main" val="3717301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19AD4-F8E0-C667-0A40-FDA0AEBDF055}"/>
              </a:ext>
            </a:extLst>
          </p:cNvPr>
          <p:cNvSpPr>
            <a:spLocks noGrp="1"/>
          </p:cNvSpPr>
          <p:nvPr>
            <p:ph type="title"/>
          </p:nvPr>
        </p:nvSpPr>
        <p:spPr>
          <a:xfrm>
            <a:off x="838200" y="365126"/>
            <a:ext cx="10515600" cy="760942"/>
          </a:xfrm>
        </p:spPr>
        <p:txBody>
          <a:bodyPr/>
          <a:lstStyle/>
          <a:p>
            <a:r>
              <a:rPr lang="en-IN" b="1" dirty="0"/>
              <a:t>                      15. Future Enhancements</a:t>
            </a:r>
          </a:p>
        </p:txBody>
      </p:sp>
      <p:sp>
        <p:nvSpPr>
          <p:cNvPr id="3" name="Content Placeholder 2">
            <a:extLst>
              <a:ext uri="{FF2B5EF4-FFF2-40B4-BE49-F238E27FC236}">
                <a16:creationId xmlns:a16="http://schemas.microsoft.com/office/drawing/2014/main" id="{E98EE061-3542-4CF5-0811-C17FD89A0BF7}"/>
              </a:ext>
            </a:extLst>
          </p:cNvPr>
          <p:cNvSpPr>
            <a:spLocks noGrp="1"/>
          </p:cNvSpPr>
          <p:nvPr>
            <p:ph idx="1"/>
          </p:nvPr>
        </p:nvSpPr>
        <p:spPr>
          <a:xfrm>
            <a:off x="364067" y="1320800"/>
            <a:ext cx="10989733" cy="4856163"/>
          </a:xfrm>
        </p:spPr>
        <p:txBody>
          <a:bodyPr/>
          <a:lstStyle/>
          <a:p>
            <a:r>
              <a:rPr lang="en-IN"/>
              <a:t>Add GUI interface</a:t>
            </a:r>
          </a:p>
          <a:p>
            <a:r>
              <a:rPr lang="en-IN"/>
              <a:t>Add AES encryption module</a:t>
            </a:r>
          </a:p>
          <a:p>
            <a:r>
              <a:rPr lang="en-IN"/>
              <a:t>Add detection comparison module</a:t>
            </a:r>
          </a:p>
          <a:p>
            <a:r>
              <a:rPr lang="en-IN"/>
              <a:t>Integrate with sandbox</a:t>
            </a:r>
          </a:p>
          <a:p>
            <a:r>
              <a:rPr lang="en-IN"/>
              <a:t>Add polymorphic engine</a:t>
            </a:r>
          </a:p>
          <a:p>
            <a:r>
              <a:rPr lang="en-IN"/>
              <a:t>Add payload mutation engine</a:t>
            </a:r>
          </a:p>
          <a:p>
            <a:r>
              <a:rPr lang="en-IN"/>
              <a:t>Add automatic encoding randomizer</a:t>
            </a:r>
          </a:p>
        </p:txBody>
      </p:sp>
    </p:spTree>
    <p:extLst>
      <p:ext uri="{BB962C8B-B14F-4D97-AF65-F5344CB8AC3E}">
        <p14:creationId xmlns:p14="http://schemas.microsoft.com/office/powerpoint/2010/main" val="243365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9406-B0B5-16BD-5E88-656224F94B17}"/>
              </a:ext>
            </a:extLst>
          </p:cNvPr>
          <p:cNvSpPr>
            <a:spLocks noGrp="1"/>
          </p:cNvSpPr>
          <p:nvPr>
            <p:ph type="title"/>
          </p:nvPr>
        </p:nvSpPr>
        <p:spPr>
          <a:xfrm>
            <a:off x="838200" y="365126"/>
            <a:ext cx="10515600" cy="964141"/>
          </a:xfrm>
        </p:spPr>
        <p:txBody>
          <a:bodyPr>
            <a:normAutofit fontScale="90000"/>
          </a:bodyPr>
          <a:lstStyle/>
          <a:p>
            <a:r>
              <a:rPr lang="en-IN" b="1" dirty="0"/>
              <a:t>                          </a:t>
            </a:r>
            <a:br>
              <a:rPr lang="en-IN" b="1" dirty="0"/>
            </a:br>
            <a:r>
              <a:rPr lang="en-IN" b="1" dirty="0"/>
              <a:t>                                    16. Conclusion</a:t>
            </a:r>
            <a:br>
              <a:rPr lang="en-IN" b="1" dirty="0"/>
            </a:br>
            <a:endParaRPr lang="en-IN" dirty="0"/>
          </a:p>
        </p:txBody>
      </p:sp>
      <p:sp>
        <p:nvSpPr>
          <p:cNvPr id="3" name="Content Placeholder 2">
            <a:extLst>
              <a:ext uri="{FF2B5EF4-FFF2-40B4-BE49-F238E27FC236}">
                <a16:creationId xmlns:a16="http://schemas.microsoft.com/office/drawing/2014/main" id="{619C5CD8-9D96-AF0D-EB8D-D61B3DB141BF}"/>
              </a:ext>
            </a:extLst>
          </p:cNvPr>
          <p:cNvSpPr>
            <a:spLocks noGrp="1"/>
          </p:cNvSpPr>
          <p:nvPr>
            <p:ph idx="1"/>
          </p:nvPr>
        </p:nvSpPr>
        <p:spPr>
          <a:xfrm>
            <a:off x="76200" y="1329267"/>
            <a:ext cx="11277600" cy="4847696"/>
          </a:xfrm>
        </p:spPr>
        <p:txBody>
          <a:bodyPr>
            <a:normAutofit lnSpcReduction="10000"/>
          </a:bodyPr>
          <a:lstStyle/>
          <a:p>
            <a:r>
              <a:rPr lang="en-US" sz="1800" dirty="0"/>
              <a:t>The Payload Encoding and Obfuscation Framework successfully demonstrates how encoding techniques can transform the structure of a payload while preserving its functionality. Through implementation of multiple encoding methods, the project highlights how signature-based detection systems can be challenged by simple transformations.</a:t>
            </a:r>
          </a:p>
          <a:p>
            <a:r>
              <a:rPr lang="en-US" sz="1800" dirty="0"/>
              <a:t>This project emphasizes the importance of moving beyond traditional signature-based detection toward behavioral and heuristic-based security solutions. By understanding attacker methodologies, cybersecurity professionals can better design stronger defensive systems.</a:t>
            </a:r>
          </a:p>
          <a:p>
            <a:r>
              <a:rPr lang="en-US" sz="1800" dirty="0"/>
              <a:t>Overall, the project:</a:t>
            </a:r>
          </a:p>
          <a:p>
            <a:r>
              <a:rPr lang="en-US" sz="1800" dirty="0"/>
              <a:t>Strengthens practical cybersecurity knowledge.</a:t>
            </a:r>
          </a:p>
          <a:p>
            <a:r>
              <a:rPr lang="en-US" sz="1800" dirty="0"/>
              <a:t>Demonstrates real-world evasion concepts in a safe lab setup.</a:t>
            </a:r>
          </a:p>
          <a:p>
            <a:r>
              <a:rPr lang="en-US" sz="1800" dirty="0"/>
              <a:t>Encourages research into advanced detection technologies.</a:t>
            </a:r>
          </a:p>
          <a:p>
            <a:r>
              <a:rPr lang="en-US" sz="1800" dirty="0"/>
              <a:t>Bridges the gap between offensive techniques and defensive improvements.</a:t>
            </a:r>
          </a:p>
          <a:p>
            <a:r>
              <a:rPr lang="en-US" sz="1800" dirty="0"/>
              <a:t>The framework serves as a foundation for further research into encryption, polymorphism, automated detection comparison, and AI-based security analysis.</a:t>
            </a:r>
          </a:p>
          <a:p>
            <a:r>
              <a:rPr lang="en-US" sz="1800" dirty="0"/>
              <a:t>.</a:t>
            </a:r>
          </a:p>
        </p:txBody>
      </p:sp>
    </p:spTree>
    <p:extLst>
      <p:ext uri="{BB962C8B-B14F-4D97-AF65-F5344CB8AC3E}">
        <p14:creationId xmlns:p14="http://schemas.microsoft.com/office/powerpoint/2010/main" val="2819346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6C46-C476-316F-4204-EBBDD85A2D39}"/>
              </a:ext>
            </a:extLst>
          </p:cNvPr>
          <p:cNvSpPr>
            <a:spLocks noGrp="1"/>
          </p:cNvSpPr>
          <p:nvPr>
            <p:ph type="title"/>
          </p:nvPr>
        </p:nvSpPr>
        <p:spPr>
          <a:xfrm>
            <a:off x="838200" y="365126"/>
            <a:ext cx="10515600" cy="811742"/>
          </a:xfrm>
        </p:spPr>
        <p:txBody>
          <a:bodyPr/>
          <a:lstStyle/>
          <a:p>
            <a:r>
              <a:rPr lang="en-US" b="1" dirty="0"/>
              <a:t>                            17.REFERENCES</a:t>
            </a:r>
            <a:endParaRPr lang="en-IN" b="1" dirty="0"/>
          </a:p>
        </p:txBody>
      </p:sp>
      <p:sp>
        <p:nvSpPr>
          <p:cNvPr id="3" name="Content Placeholder 2">
            <a:extLst>
              <a:ext uri="{FF2B5EF4-FFF2-40B4-BE49-F238E27FC236}">
                <a16:creationId xmlns:a16="http://schemas.microsoft.com/office/drawing/2014/main" id="{9B2A7EF9-E2A5-DD09-655D-41B91506FEF8}"/>
              </a:ext>
            </a:extLst>
          </p:cNvPr>
          <p:cNvSpPr>
            <a:spLocks noGrp="1"/>
          </p:cNvSpPr>
          <p:nvPr>
            <p:ph idx="1"/>
          </p:nvPr>
        </p:nvSpPr>
        <p:spPr/>
        <p:txBody>
          <a:bodyPr/>
          <a:lstStyle/>
          <a:p>
            <a:r>
              <a:rPr lang="en-IN" dirty="0"/>
              <a:t>Python Official Documentation</a:t>
            </a:r>
          </a:p>
          <a:p>
            <a:r>
              <a:rPr lang="en-IN" dirty="0"/>
              <a:t>OWASP Security Documentation</a:t>
            </a:r>
          </a:p>
          <a:p>
            <a:r>
              <a:rPr lang="en-IN" dirty="0"/>
              <a:t>MITRE ATT&amp;CK Framework</a:t>
            </a:r>
          </a:p>
          <a:p>
            <a:r>
              <a:rPr lang="en-IN" dirty="0"/>
              <a:t>Cybersecurity research papers</a:t>
            </a:r>
          </a:p>
          <a:p>
            <a:r>
              <a:rPr lang="en-IN" dirty="0"/>
              <a:t>Ethical hacking study materials</a:t>
            </a:r>
          </a:p>
          <a:p>
            <a:endParaRPr lang="en-IN" dirty="0"/>
          </a:p>
        </p:txBody>
      </p:sp>
    </p:spTree>
    <p:extLst>
      <p:ext uri="{BB962C8B-B14F-4D97-AF65-F5344CB8AC3E}">
        <p14:creationId xmlns:p14="http://schemas.microsoft.com/office/powerpoint/2010/main" val="2727614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200</TotalTime>
  <Words>1411</Words>
  <Application>Microsoft Office PowerPoint</Application>
  <PresentationFormat>Widescreen</PresentationFormat>
  <Paragraphs>240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Celestial</vt:lpstr>
      <vt:lpstr>                                            TITLE</vt:lpstr>
      <vt:lpstr>index</vt:lpstr>
      <vt:lpstr>                                  1.Introduction</vt:lpstr>
      <vt:lpstr>                   2. Project Overview</vt:lpstr>
      <vt:lpstr>               3. Objectives of the Project</vt:lpstr>
      <vt:lpstr>                   4. Practical Motivation</vt:lpstr>
      <vt:lpstr>                 5. Scope of the Project</vt:lpstr>
      <vt:lpstr>                 6. System Requirements</vt:lpstr>
      <vt:lpstr>                        7. Technology Used</vt:lpstr>
      <vt:lpstr>                   8. Module Description</vt:lpstr>
      <vt:lpstr>                 9. Working of the System</vt:lpstr>
      <vt:lpstr>                 10. Program Code Overview</vt:lpstr>
      <vt:lpstr>                         11. Sample Output</vt:lpstr>
      <vt:lpstr>                            12. Advantages</vt:lpstr>
      <vt:lpstr>                           13. Limitations</vt:lpstr>
      <vt:lpstr>                                14.Applications</vt:lpstr>
      <vt:lpstr>                      15. Future Enhancements</vt:lpstr>
      <vt:lpstr>                                                               16. Conclusion </vt:lpstr>
      <vt:lpstr>                            17.REFERENCES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Kamble</dc:creator>
  <cp:lastModifiedBy>Sanjana Kamble</cp:lastModifiedBy>
  <cp:revision>1</cp:revision>
  <dcterms:created xsi:type="dcterms:W3CDTF">2026-02-22T16:33:39Z</dcterms:created>
  <dcterms:modified xsi:type="dcterms:W3CDTF">2026-02-22T19:54:15Z</dcterms:modified>
</cp:coreProperties>
</file>